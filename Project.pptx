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ed84b48e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2ed84b48e0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a8eec26b9a_1_5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system called version control keeps track of changes made to a file or group of files over time so that you may retrieve certain versions at a later time.</a:t>
            </a:r>
            <a:endParaRPr/>
          </a:p>
          <a:p>
            <a:pPr indent="0" lvl="0" marL="0" rtl="0" algn="l">
              <a:spcBef>
                <a:spcPts val="0"/>
              </a:spcBef>
              <a:spcAft>
                <a:spcPts val="0"/>
              </a:spcAft>
              <a:buClr>
                <a:schemeClr val="dk1"/>
              </a:buClr>
              <a:buSzPts val="1100"/>
              <a:buFont typeface="Arial"/>
              <a:buNone/>
            </a:pPr>
            <a:r>
              <a:rPr lang="en"/>
              <a:t>It enables you to compare changes over time, identify who last edited anything that could be creating an issue, who originated an issue and when, and more. You can even roll back certain files or the entire project to a prior state.</a:t>
            </a:r>
            <a:endParaRPr/>
          </a:p>
          <a:p>
            <a:pPr indent="0" lvl="0" marL="0" rtl="0" algn="l">
              <a:spcBef>
                <a:spcPts val="0"/>
              </a:spcBef>
              <a:spcAft>
                <a:spcPts val="0"/>
              </a:spcAft>
              <a:buNone/>
            </a:pPr>
            <a:r>
              <a:t/>
            </a:r>
            <a:endParaRPr/>
          </a:p>
        </p:txBody>
      </p:sp>
      <p:sp>
        <p:nvSpPr>
          <p:cNvPr id="95" name="Google Shape;95;g2a8eec26b9a_1_50: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a8eec26b9a_1_57: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Additionally, you can usually simply restore data if you make mistakes or lose them when using a VCS.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You also receive all of this for a very little overhead.</a:t>
            </a:r>
            <a:endParaRPr/>
          </a:p>
          <a:p>
            <a:pPr indent="0" lvl="0" marL="0" rtl="0" algn="l">
              <a:spcBef>
                <a:spcPts val="0"/>
              </a:spcBef>
              <a:spcAft>
                <a:spcPts val="0"/>
              </a:spcAft>
              <a:buNone/>
            </a:pPr>
            <a:r>
              <a:t/>
            </a:r>
            <a:endParaRPr/>
          </a:p>
        </p:txBody>
      </p:sp>
      <p:sp>
        <p:nvSpPr>
          <p:cNvPr id="102" name="Google Shape;102;g2a8eec26b9a_1_57: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a8eec26b9a_1_6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common approach to version control is for users to copy items to a different directory (maybe even a time-stamped directory, if they're really crafty).</a:t>
            </a:r>
            <a:endParaRPr/>
          </a:p>
          <a:p>
            <a:pPr indent="0" lvl="0" marL="0" rtl="0" algn="l">
              <a:spcBef>
                <a:spcPts val="0"/>
              </a:spcBef>
              <a:spcAft>
                <a:spcPts val="0"/>
              </a:spcAft>
              <a:buClr>
                <a:schemeClr val="dk1"/>
              </a:buClr>
              <a:buSzPts val="1100"/>
              <a:buFont typeface="Arial"/>
              <a:buNone/>
            </a:pPr>
            <a:r>
              <a:rPr lang="en"/>
              <a:t>Due to its simplicity, this method is widely used, yet it is also quite mistake prone. It is simple to inadvertently write to the incorrect file or copy over files you don't want to since you can easily forget which directory you are in.</a:t>
            </a:r>
            <a:endParaRPr/>
          </a:p>
          <a:p>
            <a:pPr indent="0" lvl="0" marL="0" rtl="0" algn="l">
              <a:spcBef>
                <a:spcPts val="0"/>
              </a:spcBef>
              <a:spcAft>
                <a:spcPts val="0"/>
              </a:spcAft>
              <a:buClr>
                <a:schemeClr val="dk1"/>
              </a:buClr>
              <a:buSzPts val="1100"/>
              <a:buFont typeface="Arial"/>
              <a:buNone/>
            </a:pPr>
            <a:r>
              <a:rPr lang="en"/>
              <a:t>Programmers created local revision control systems (VCSs) with a basic database that stored all file modifications under revision control ages ago in order to address this problem.</a:t>
            </a:r>
            <a:endParaRPr/>
          </a:p>
          <a:p>
            <a:pPr indent="0" lvl="0" marL="0" rtl="0" algn="l">
              <a:spcBef>
                <a:spcPts val="0"/>
              </a:spcBef>
              <a:spcAft>
                <a:spcPts val="0"/>
              </a:spcAft>
              <a:buNone/>
            </a:pPr>
            <a:r>
              <a:t/>
            </a:r>
            <a:endParaRPr/>
          </a:p>
        </p:txBody>
      </p:sp>
      <p:sp>
        <p:nvSpPr>
          <p:cNvPr id="109" name="Google Shape;109;g2a8eec26b9a_1_64: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a8eec26b9a_1_71: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An RCS system was one of the most widely used VCS tools; it is still included with many PCs today.</a:t>
            </a:r>
            <a:endParaRPr/>
          </a:p>
          <a:p>
            <a:pPr indent="0" lvl="0" marL="0" rtl="0" algn="l">
              <a:spcBef>
                <a:spcPts val="0"/>
              </a:spcBef>
              <a:spcAft>
                <a:spcPts val="0"/>
              </a:spcAft>
              <a:buClr>
                <a:schemeClr val="dk1"/>
              </a:buClr>
              <a:buSzPts val="1100"/>
              <a:buFont typeface="Arial"/>
              <a:buNone/>
            </a:pPr>
            <a:r>
              <a:rPr lang="en"/>
              <a:t>RCS operates by storing patch sets, or the variations between files, in a unique format on disk. By adding up all of the patches, it is then able to reconstruct the appearance of any file at any given moment.</a:t>
            </a:r>
            <a:endParaRPr/>
          </a:p>
          <a:p>
            <a:pPr indent="0" lvl="0" marL="0" rtl="0" algn="l">
              <a:spcBef>
                <a:spcPts val="0"/>
              </a:spcBef>
              <a:spcAft>
                <a:spcPts val="0"/>
              </a:spcAft>
              <a:buNone/>
            </a:pPr>
            <a:r>
              <a:t/>
            </a:r>
            <a:endParaRPr/>
          </a:p>
        </p:txBody>
      </p:sp>
      <p:sp>
        <p:nvSpPr>
          <p:cNvPr id="116" name="Google Shape;116;g2a8eec26b9a_1_71: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8eec26b9a_1_78: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necessity of working with developers on other platforms is the next significant problem that individuals run across. Centralized Version Control Systems (CVCSs) were created as a solution to this issue.</a:t>
            </a:r>
            <a:endParaRPr/>
          </a:p>
          <a:p>
            <a:pPr indent="0" lvl="0" marL="0" rtl="0" algn="l">
              <a:spcBef>
                <a:spcPts val="0"/>
              </a:spcBef>
              <a:spcAft>
                <a:spcPts val="0"/>
              </a:spcAft>
              <a:buClr>
                <a:schemeClr val="dk1"/>
              </a:buClr>
              <a:buSzPts val="1100"/>
              <a:buFont typeface="Arial"/>
              <a:buNone/>
            </a:pPr>
            <a:r>
              <a:rPr lang="en"/>
              <a:t>These systems, which include Perforce, CVS, and Subversion, feature many clients that check out files from a single server that has all of the versioned files. This has been the accepted method of version control for a long time.</a:t>
            </a:r>
            <a:endParaRPr/>
          </a:p>
          <a:p>
            <a:pPr indent="0" lvl="0" marL="0" rtl="0" algn="l">
              <a:spcBef>
                <a:spcPts val="0"/>
              </a:spcBef>
              <a:spcAft>
                <a:spcPts val="0"/>
              </a:spcAft>
              <a:buNone/>
            </a:pPr>
            <a:r>
              <a:t/>
            </a:r>
            <a:endParaRPr/>
          </a:p>
        </p:txBody>
      </p:sp>
      <p:sp>
        <p:nvSpPr>
          <p:cNvPr id="123" name="Google Shape;123;g2a8eec26b9a_1_78: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a8eec26b9a_1_87: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particular, this configuration has several benefits over local VCSs.</a:t>
            </a:r>
            <a:endParaRPr/>
          </a:p>
          <a:p>
            <a:pPr indent="0" lvl="0" marL="0" rtl="0" algn="l">
              <a:spcBef>
                <a:spcPts val="0"/>
              </a:spcBef>
              <a:spcAft>
                <a:spcPts val="0"/>
              </a:spcAft>
              <a:buClr>
                <a:schemeClr val="dk1"/>
              </a:buClr>
              <a:buSzPts val="1100"/>
              <a:buFont typeface="Arial"/>
              <a:buNone/>
            </a:pPr>
            <a:r>
              <a:rPr lang="en"/>
              <a:t>For instance, everyone on the project is somewhat aware of what everyone else is doing.</a:t>
            </a:r>
            <a:endParaRPr/>
          </a:p>
          <a:p>
            <a:pPr indent="0" lvl="0" marL="0" rtl="0" algn="l">
              <a:spcBef>
                <a:spcPts val="0"/>
              </a:spcBef>
              <a:spcAft>
                <a:spcPts val="0"/>
              </a:spcAft>
              <a:buClr>
                <a:schemeClr val="dk1"/>
              </a:buClr>
              <a:buSzPts val="1100"/>
              <a:buFont typeface="Arial"/>
              <a:buNone/>
            </a:pPr>
            <a:r>
              <a:rPr lang="en"/>
              <a:t>In addition to having far more control over who can do what, administrators find that managing a CVCS is significantly simpler than managing local databases for each client.</a:t>
            </a:r>
            <a:endParaRPr/>
          </a:p>
          <a:p>
            <a:pPr indent="0" lvl="0" marL="0" rtl="0" algn="l">
              <a:spcBef>
                <a:spcPts val="0"/>
              </a:spcBef>
              <a:spcAft>
                <a:spcPts val="0"/>
              </a:spcAft>
              <a:buNone/>
            </a:pPr>
            <a:r>
              <a:t/>
            </a:r>
            <a:endParaRPr/>
          </a:p>
        </p:txBody>
      </p:sp>
      <p:sp>
        <p:nvSpPr>
          <p:cNvPr id="132" name="Google Shape;132;g2a8eec26b9a_1_87: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a8eec26b9a_1_9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centralized server's role as a single point of failure is the most evident. Nobody will be able to communicate at all or save versioned changes to whatever they're working on if the server goes down for an hour.</a:t>
            </a:r>
            <a:endParaRPr/>
          </a:p>
          <a:p>
            <a:pPr indent="0" lvl="0" marL="0" rtl="0" algn="l">
              <a:spcBef>
                <a:spcPts val="0"/>
              </a:spcBef>
              <a:spcAft>
                <a:spcPts val="0"/>
              </a:spcAft>
              <a:buClr>
                <a:schemeClr val="dk1"/>
              </a:buClr>
              <a:buSzPts val="1100"/>
              <a:buFont typeface="Arial"/>
              <a:buNone/>
            </a:pPr>
            <a:r>
              <a:rPr lang="en"/>
              <a:t>All project history, with the exception of any individual snapshots that users may have on their local computers, is lost if the hard drive housing the central database gets damaged and adequate backups have not been maintained.</a:t>
            </a:r>
            <a:endParaRPr/>
          </a:p>
          <a:p>
            <a:pPr indent="0" lvl="0" marL="0" rtl="0" algn="l">
              <a:spcBef>
                <a:spcPts val="0"/>
              </a:spcBef>
              <a:spcAft>
                <a:spcPts val="0"/>
              </a:spcAft>
              <a:buNone/>
            </a:pPr>
            <a:r>
              <a:t/>
            </a:r>
            <a:endParaRPr/>
          </a:p>
        </p:txBody>
      </p:sp>
      <p:sp>
        <p:nvSpPr>
          <p:cNvPr id="139" name="Google Shape;139;g2a8eec26b9a_1_94: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a8eec26b9a_1_101: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similar issue affects local VCSs: having the complete project history in one location puts everything at danger of being lost.</a:t>
            </a:r>
            <a:endParaRPr/>
          </a:p>
        </p:txBody>
      </p:sp>
      <p:sp>
        <p:nvSpPr>
          <p:cNvPr id="146" name="Google Shape;146;g2a8eec26b9a_1_101: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8eec26b9a_1_112: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Distributed Version Control Systems (DVCSs) come into play here.</a:t>
            </a:r>
            <a:endParaRPr/>
          </a:p>
          <a:p>
            <a:pPr indent="0" lvl="0" marL="0" rtl="0" algn="l">
              <a:spcBef>
                <a:spcPts val="0"/>
              </a:spcBef>
              <a:spcAft>
                <a:spcPts val="0"/>
              </a:spcAft>
              <a:buClr>
                <a:schemeClr val="dk1"/>
              </a:buClr>
              <a:buSzPts val="1100"/>
              <a:buFont typeface="Arial"/>
              <a:buNone/>
            </a:pPr>
            <a:r>
              <a:rPr lang="en"/>
              <a:t>Clients of a distributed version control system (DVCS), like Git, Mercurial, Bazaar, or Darcs, mirror the whole repository, including all of its past versions, rather than simply the most recent snapshot of the contents.</a:t>
            </a:r>
            <a:endParaRPr/>
          </a:p>
          <a:p>
            <a:pPr indent="0" lvl="0" marL="0" rtl="0" algn="l">
              <a:spcBef>
                <a:spcPts val="0"/>
              </a:spcBef>
              <a:spcAft>
                <a:spcPts val="0"/>
              </a:spcAft>
              <a:buClr>
                <a:schemeClr val="dk1"/>
              </a:buClr>
              <a:buSzPts val="1100"/>
              <a:buFont typeface="Arial"/>
              <a:buNone/>
            </a:pPr>
            <a:r>
              <a:rPr lang="en"/>
              <a:t>As a result, any client repository may be transferred back up to the server in order to recover it in the event that a server fails and these systems were cooperating through it.</a:t>
            </a:r>
            <a:endParaRPr/>
          </a:p>
          <a:p>
            <a:pPr indent="0" lvl="0" marL="0" rtl="0" algn="l">
              <a:spcBef>
                <a:spcPts val="0"/>
              </a:spcBef>
              <a:spcAft>
                <a:spcPts val="0"/>
              </a:spcAft>
              <a:buClr>
                <a:schemeClr val="dk1"/>
              </a:buClr>
              <a:buSzPts val="1100"/>
              <a:buFont typeface="Arial"/>
              <a:buNone/>
            </a:pPr>
            <a:r>
              <a:rPr lang="en"/>
              <a:t>In actuality, each clone is a whole backup of all the data.</a:t>
            </a:r>
            <a:endParaRPr/>
          </a:p>
          <a:p>
            <a:pPr indent="0" lvl="0" marL="0" rtl="0" algn="l">
              <a:spcBef>
                <a:spcPts val="0"/>
              </a:spcBef>
              <a:spcAft>
                <a:spcPts val="0"/>
              </a:spcAft>
              <a:buNone/>
            </a:pPr>
            <a:r>
              <a:t/>
            </a:r>
            <a:endParaRPr/>
          </a:p>
        </p:txBody>
      </p:sp>
      <p:sp>
        <p:nvSpPr>
          <p:cNvPr id="157" name="Google Shape;157;g2a8eec26b9a_1_112: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a8eec26b9a_1_119: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Additionally, a lot of these platforms handle handling multiple remote repositories rather effectively, allowing you to concurrently communicate with many groups of people on the same project in various ways.</a:t>
            </a:r>
            <a:endParaRPr/>
          </a:p>
          <a:p>
            <a:pPr indent="0" lvl="0" marL="0" rtl="0" algn="l">
              <a:spcBef>
                <a:spcPts val="0"/>
              </a:spcBef>
              <a:spcAft>
                <a:spcPts val="0"/>
              </a:spcAft>
              <a:buClr>
                <a:schemeClr val="dk1"/>
              </a:buClr>
              <a:buSzPts val="1100"/>
              <a:buFont typeface="Arial"/>
              <a:buNone/>
            </a:pPr>
            <a:r>
              <a:rPr lang="en"/>
              <a:t>This enables you to set up a variety of operations, including hierarchical models, that aren't feasible in centralized systems.</a:t>
            </a:r>
            <a:endParaRPr/>
          </a:p>
          <a:p>
            <a:pPr indent="0" lvl="0" marL="0" rtl="0" algn="l">
              <a:spcBef>
                <a:spcPts val="0"/>
              </a:spcBef>
              <a:spcAft>
                <a:spcPts val="0"/>
              </a:spcAft>
              <a:buNone/>
            </a:pPr>
            <a:r>
              <a:t/>
            </a:r>
            <a:endParaRPr/>
          </a:p>
        </p:txBody>
      </p:sp>
      <p:sp>
        <p:nvSpPr>
          <p:cNvPr id="164" name="Google Shape;164;g2a8eec26b9a_1_119: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a8eec26b9a_1_12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is a crucial section to read through since it will help you use Git more efficiently if you grasp its definition and the basic principles of how it operates.</a:t>
            </a:r>
            <a:endParaRPr/>
          </a:p>
          <a:p>
            <a:pPr indent="0" lvl="0" marL="0" rtl="0" algn="l">
              <a:spcBef>
                <a:spcPts val="0"/>
              </a:spcBef>
              <a:spcAft>
                <a:spcPts val="0"/>
              </a:spcAft>
              <a:buClr>
                <a:schemeClr val="dk1"/>
              </a:buClr>
              <a:buSzPts val="1100"/>
              <a:buFont typeface="Arial"/>
              <a:buNone/>
            </a:pPr>
            <a:r>
              <a:rPr lang="en"/>
              <a:t>Try to forget about any knowledge you may have of other version control systems (VCSs), such as CVS, Subversion, or Perforce, while you study Git. This will help you avoid subtle misunderstanding when using the tool.</a:t>
            </a:r>
            <a:endParaRPr/>
          </a:p>
          <a:p>
            <a:pPr indent="0" lvl="0" marL="0" rtl="0" algn="l">
              <a:spcBef>
                <a:spcPts val="0"/>
              </a:spcBef>
              <a:spcAft>
                <a:spcPts val="0"/>
              </a:spcAft>
              <a:buClr>
                <a:schemeClr val="dk1"/>
              </a:buClr>
              <a:buSzPts val="1100"/>
              <a:buFont typeface="Arial"/>
              <a:buNone/>
            </a:pPr>
            <a:r>
              <a:rPr lang="en"/>
              <a:t>Git stores and processes information considerably differently from these other VCSs, despite the fact that its UI is somewhat similar to theirs. Knowing these distinctions will help you use Git more effectively and prevent confusion.</a:t>
            </a:r>
            <a:endParaRPr/>
          </a:p>
          <a:p>
            <a:pPr indent="0" lvl="0" marL="0" rtl="0" algn="l">
              <a:spcBef>
                <a:spcPts val="0"/>
              </a:spcBef>
              <a:spcAft>
                <a:spcPts val="0"/>
              </a:spcAft>
              <a:buNone/>
            </a:pPr>
            <a:r>
              <a:t/>
            </a:r>
            <a:endParaRPr/>
          </a:p>
        </p:txBody>
      </p:sp>
      <p:sp>
        <p:nvSpPr>
          <p:cNvPr id="171" name="Google Shape;171;g2a8eec26b9a_1_126: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a8eec26b9a_1_133: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Git's approach to data management sets it apart from all other version control systems (VCS), including Subversion and its allies.</a:t>
            </a:r>
            <a:endParaRPr/>
          </a:p>
          <a:p>
            <a:pPr indent="0" lvl="0" marL="0" rtl="0" algn="l">
              <a:spcBef>
                <a:spcPts val="0"/>
              </a:spcBef>
              <a:spcAft>
                <a:spcPts val="0"/>
              </a:spcAft>
              <a:buClr>
                <a:schemeClr val="dk1"/>
              </a:buClr>
              <a:buSzPts val="1100"/>
              <a:buFont typeface="Arial"/>
              <a:buNone/>
            </a:pPr>
            <a:r>
              <a:rPr lang="en"/>
              <a:t>In theory, data is stored in most other systems as a list of file-based modifications.</a:t>
            </a:r>
            <a:endParaRPr/>
          </a:p>
          <a:p>
            <a:pPr indent="0" lvl="0" marL="0" rtl="0" algn="l">
              <a:spcBef>
                <a:spcPts val="0"/>
              </a:spcBef>
              <a:spcAft>
                <a:spcPts val="0"/>
              </a:spcAft>
              <a:buClr>
                <a:schemeClr val="dk1"/>
              </a:buClr>
              <a:buSzPts val="1100"/>
              <a:buFont typeface="Arial"/>
              <a:buNone/>
            </a:pPr>
            <a:r>
              <a:rPr lang="en"/>
              <a:t>The information that these other systems (such as CVS, Subversion, Perforce, Bazaar, and so on) hold is conceptualized as a collection of files and the modifications made to each file over time (a practice known as delta-based version control).</a:t>
            </a:r>
            <a:endParaRPr/>
          </a:p>
          <a:p>
            <a:pPr indent="0" lvl="0" marL="0" rtl="0" algn="l">
              <a:spcBef>
                <a:spcPts val="0"/>
              </a:spcBef>
              <a:spcAft>
                <a:spcPts val="0"/>
              </a:spcAft>
              <a:buNone/>
            </a:pPr>
            <a:r>
              <a:t/>
            </a:r>
            <a:endParaRPr/>
          </a:p>
        </p:txBody>
      </p:sp>
      <p:sp>
        <p:nvSpPr>
          <p:cNvPr id="178" name="Google Shape;178;g2a8eec26b9a_1_133: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a8eec26b9a_1_140: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2a8eec26b9a_1_140: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a8eec26b9a_1_147: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is not how Git views or stores its data.</a:t>
            </a:r>
            <a:endParaRPr/>
          </a:p>
          <a:p>
            <a:pPr indent="0" lvl="0" marL="0" rtl="0" algn="l">
              <a:spcBef>
                <a:spcPts val="0"/>
              </a:spcBef>
              <a:spcAft>
                <a:spcPts val="0"/>
              </a:spcAft>
              <a:buClr>
                <a:schemeClr val="dk1"/>
              </a:buClr>
              <a:buSzPts val="1100"/>
              <a:buFont typeface="Arial"/>
              <a:buNone/>
            </a:pPr>
            <a:r>
              <a:rPr lang="en"/>
              <a:t>Rather, Git views its data more as a collection of snapshots taken from a small filesystem.</a:t>
            </a:r>
            <a:endParaRPr/>
          </a:p>
          <a:p>
            <a:pPr indent="0" lvl="0" marL="0" rtl="0" algn="l">
              <a:spcBef>
                <a:spcPts val="0"/>
              </a:spcBef>
              <a:spcAft>
                <a:spcPts val="0"/>
              </a:spcAft>
              <a:buClr>
                <a:schemeClr val="dk1"/>
              </a:buClr>
              <a:buSzPts val="1100"/>
              <a:buFont typeface="Arial"/>
              <a:buNone/>
            </a:pPr>
            <a:r>
              <a:rPr lang="en"/>
              <a:t>Git essentially takes a snapshot of all of your files at that exact instant and saves a reference to it each time you commit, or save the state of your project.</a:t>
            </a:r>
            <a:endParaRPr/>
          </a:p>
          <a:p>
            <a:pPr indent="0" lvl="0" marL="0" rtl="0" algn="l">
              <a:spcBef>
                <a:spcPts val="0"/>
              </a:spcBef>
              <a:spcAft>
                <a:spcPts val="0"/>
              </a:spcAft>
              <a:buClr>
                <a:schemeClr val="dk1"/>
              </a:buClr>
              <a:buSzPts val="1100"/>
              <a:buFont typeface="Arial"/>
              <a:buNone/>
            </a:pPr>
            <a:r>
              <a:rPr lang="en"/>
              <a:t>In order to save space, Git only saves a link to the same file that it has already saved in the event that a file has not changed.</a:t>
            </a:r>
            <a:endParaRPr/>
          </a:p>
          <a:p>
            <a:pPr indent="0" lvl="0" marL="0" rtl="0" algn="l">
              <a:spcBef>
                <a:spcPts val="0"/>
              </a:spcBef>
              <a:spcAft>
                <a:spcPts val="0"/>
              </a:spcAft>
              <a:buClr>
                <a:schemeClr val="dk1"/>
              </a:buClr>
              <a:buSzPts val="1100"/>
              <a:buFont typeface="Arial"/>
              <a:buNone/>
            </a:pPr>
            <a:r>
              <a:rPr lang="en"/>
              <a:t>Git views its data more as a continuous series of snapshots.</a:t>
            </a:r>
            <a:endParaRPr/>
          </a:p>
          <a:p>
            <a:pPr indent="0" lvl="0" marL="0" rtl="0" algn="l">
              <a:spcBef>
                <a:spcPts val="0"/>
              </a:spcBef>
              <a:spcAft>
                <a:spcPts val="0"/>
              </a:spcAft>
              <a:buNone/>
            </a:pPr>
            <a:r>
              <a:t/>
            </a:r>
            <a:endParaRPr/>
          </a:p>
        </p:txBody>
      </p:sp>
      <p:sp>
        <p:nvSpPr>
          <p:cNvPr id="192" name="Google Shape;192;g2a8eec26b9a_1_147: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a8eec26b9a_1_15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2a8eec26b9a_1_154: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a8eec26b9a_1_161: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This is a crucial way that Git differs from almost every other VCS.</a:t>
            </a:r>
            <a:endParaRPr/>
          </a:p>
          <a:p>
            <a:pPr indent="0" lvl="0" marL="0" rtl="0" algn="l">
              <a:spcBef>
                <a:spcPts val="0"/>
              </a:spcBef>
              <a:spcAft>
                <a:spcPts val="0"/>
              </a:spcAft>
              <a:buClr>
                <a:schemeClr val="dk1"/>
              </a:buClr>
              <a:buSzPts val="1100"/>
              <a:buFont typeface="Arial"/>
              <a:buNone/>
            </a:pPr>
            <a:r>
              <a:rPr lang="en"/>
              <a:t>Nearly every facet of version control, which the majority of other systems imitated from the prior generation, is reexamined by Git.</a:t>
            </a:r>
            <a:endParaRPr/>
          </a:p>
          <a:p>
            <a:pPr indent="0" lvl="0" marL="0" rtl="0" algn="l">
              <a:spcBef>
                <a:spcPts val="0"/>
              </a:spcBef>
              <a:spcAft>
                <a:spcPts val="0"/>
              </a:spcAft>
              <a:buClr>
                <a:schemeClr val="dk1"/>
              </a:buClr>
              <a:buSzPts val="1100"/>
              <a:buFont typeface="Arial"/>
              <a:buNone/>
            </a:pPr>
            <a:r>
              <a:rPr lang="en"/>
              <a:t>This turns Git from being just a VCS into something more akin to a small filesystem with some really strong tools built on top of it.</a:t>
            </a:r>
            <a:endParaRPr/>
          </a:p>
          <a:p>
            <a:pPr indent="0" lvl="0" marL="0" rtl="0" algn="l">
              <a:spcBef>
                <a:spcPts val="0"/>
              </a:spcBef>
              <a:spcAft>
                <a:spcPts val="0"/>
              </a:spcAft>
              <a:buClr>
                <a:schemeClr val="dk1"/>
              </a:buClr>
              <a:buSzPts val="1100"/>
              <a:buFont typeface="Arial"/>
              <a:buNone/>
            </a:pPr>
            <a:r>
              <a:rPr lang="en"/>
              <a:t>When we discuss Git branching in Git Branching, we'll go over a few advantages of seeing your data in this manner.</a:t>
            </a:r>
            <a:endParaRPr/>
          </a:p>
          <a:p>
            <a:pPr indent="0" lvl="0" marL="0" rtl="0" algn="l">
              <a:spcBef>
                <a:spcPts val="0"/>
              </a:spcBef>
              <a:spcAft>
                <a:spcPts val="0"/>
              </a:spcAft>
              <a:buNone/>
            </a:pPr>
            <a:r>
              <a:t/>
            </a:r>
            <a:endParaRPr/>
          </a:p>
        </p:txBody>
      </p:sp>
      <p:sp>
        <p:nvSpPr>
          <p:cNvPr id="206" name="Google Shape;206;g2a8eec26b9a_1_161: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a8eec26b9a_1_168: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Almost every operation you perform in Git adds information to the Git database.</a:t>
            </a:r>
            <a:endParaRPr/>
          </a:p>
          <a:p>
            <a:pPr indent="0" lvl="0" marL="0" rtl="0" algn="l">
              <a:spcBef>
                <a:spcPts val="0"/>
              </a:spcBef>
              <a:spcAft>
                <a:spcPts val="0"/>
              </a:spcAft>
              <a:buClr>
                <a:schemeClr val="dk1"/>
              </a:buClr>
              <a:buSzPts val="1100"/>
              <a:buFont typeface="Arial"/>
              <a:buNone/>
            </a:pPr>
            <a:r>
              <a:rPr lang="en"/>
              <a:t>It is difficult to make the system do something that cannot be reversed or to have it delete data in any manner.</a:t>
            </a:r>
            <a:endParaRPr/>
          </a:p>
          <a:p>
            <a:pPr indent="0" lvl="0" marL="0" rtl="0" algn="l">
              <a:spcBef>
                <a:spcPts val="0"/>
              </a:spcBef>
              <a:spcAft>
                <a:spcPts val="0"/>
              </a:spcAft>
              <a:buClr>
                <a:schemeClr val="dk1"/>
              </a:buClr>
              <a:buSzPts val="1100"/>
              <a:buFont typeface="Arial"/>
              <a:buNone/>
            </a:pPr>
            <a:r>
              <a:rPr lang="en"/>
              <a:t>Changes you haven't committed can be lost or messed up, just like with any other VCS. However, once you commit a snapshot into Git, it is very difficult to lose, especially if you push your database to a different repository on a frequent basis.</a:t>
            </a:r>
            <a:endParaRPr/>
          </a:p>
          <a:p>
            <a:pPr indent="0" lvl="0" marL="0" rtl="0" algn="l">
              <a:spcBef>
                <a:spcPts val="0"/>
              </a:spcBef>
              <a:spcAft>
                <a:spcPts val="0"/>
              </a:spcAft>
              <a:buNone/>
            </a:pPr>
            <a:r>
              <a:t/>
            </a:r>
            <a:endParaRPr/>
          </a:p>
        </p:txBody>
      </p:sp>
      <p:sp>
        <p:nvSpPr>
          <p:cNvPr id="213" name="Google Shape;213;g2a8eec26b9a_1_168: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a8eec26b9a_1_176: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pay attention—if you want the remainder of your learning process to go smoothly, this is the most important thing to know about Git. Your files can be in one of three basic states with Git: edited, staged, or committed.</a:t>
            </a:r>
            <a:endParaRPr/>
          </a:p>
        </p:txBody>
      </p:sp>
      <p:sp>
        <p:nvSpPr>
          <p:cNvPr id="221" name="Google Shape;221;g2a8eec26b9a_1_176: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a8eec26b9a_1_183: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Modified denotes a modification that has been made to the file but has not yet been committed to your database.</a:t>
            </a:r>
            <a:endParaRPr/>
          </a:p>
          <a:p>
            <a:pPr indent="0" lvl="0" marL="0" rtl="0" algn="l">
              <a:spcBef>
                <a:spcPts val="0"/>
              </a:spcBef>
              <a:spcAft>
                <a:spcPts val="0"/>
              </a:spcAft>
              <a:buClr>
                <a:schemeClr val="dk1"/>
              </a:buClr>
              <a:buSzPts val="1100"/>
              <a:buFont typeface="Arial"/>
              <a:buNone/>
            </a:pPr>
            <a:r>
              <a:rPr lang="en"/>
              <a:t>When a file is designated as "staged," it indicates that it has been updated and should be included in your next commit snapshot.</a:t>
            </a:r>
            <a:endParaRPr/>
          </a:p>
          <a:p>
            <a:pPr indent="0" lvl="0" marL="0" rtl="0" algn="l">
              <a:spcBef>
                <a:spcPts val="0"/>
              </a:spcBef>
              <a:spcAft>
                <a:spcPts val="0"/>
              </a:spcAft>
              <a:buClr>
                <a:schemeClr val="dk1"/>
              </a:buClr>
              <a:buSzPts val="1100"/>
              <a:buFont typeface="Arial"/>
              <a:buNone/>
            </a:pPr>
            <a:r>
              <a:rPr lang="en"/>
              <a:t>When data is committed, it is kept securely in your local database.</a:t>
            </a:r>
            <a:endParaRPr/>
          </a:p>
          <a:p>
            <a:pPr indent="0" lvl="0" marL="0" rtl="0" algn="l">
              <a:spcBef>
                <a:spcPts val="0"/>
              </a:spcBef>
              <a:spcAft>
                <a:spcPts val="0"/>
              </a:spcAft>
              <a:buNone/>
            </a:pPr>
            <a:r>
              <a:t/>
            </a:r>
            <a:endParaRPr/>
          </a:p>
        </p:txBody>
      </p:sp>
      <p:sp>
        <p:nvSpPr>
          <p:cNvPr id="228" name="Google Shape;228;g2a8eec26b9a_1_183: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a8eec26b9a_1_19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2a8eec26b9a_1_194: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a8eec26b9a_1_202: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single checkout of a single project version makes up the working tree.</a:t>
            </a:r>
            <a:endParaRPr/>
          </a:p>
          <a:p>
            <a:pPr indent="0" lvl="0" marL="0" rtl="0" algn="l">
              <a:spcBef>
                <a:spcPts val="0"/>
              </a:spcBef>
              <a:spcAft>
                <a:spcPts val="0"/>
              </a:spcAft>
              <a:buClr>
                <a:schemeClr val="dk1"/>
              </a:buClr>
              <a:buSzPts val="1100"/>
              <a:buFont typeface="Arial"/>
              <a:buNone/>
            </a:pPr>
            <a:r>
              <a:rPr lang="en"/>
              <a:t>These files are extracted from the Git directory's compressed database and saved to disk so you may use or edit them.</a:t>
            </a:r>
            <a:endParaRPr/>
          </a:p>
          <a:p>
            <a:pPr indent="0" lvl="0" marL="0" rtl="0" algn="l">
              <a:spcBef>
                <a:spcPts val="0"/>
              </a:spcBef>
              <a:spcAft>
                <a:spcPts val="0"/>
              </a:spcAft>
              <a:buNone/>
            </a:pPr>
            <a:r>
              <a:t/>
            </a:r>
            <a:endParaRPr/>
          </a:p>
        </p:txBody>
      </p:sp>
      <p:sp>
        <p:nvSpPr>
          <p:cNvPr id="247" name="Google Shape;247;g2a8eec26b9a_1_202: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8eec26b9a_1_213: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Information about what will be included in your next commit is stored in a file called the staging area, which is usually located in your Git directory. In Git jargon, it's known technically as the "index," although "staging area" also does the trick.</a:t>
            </a:r>
            <a:endParaRPr/>
          </a:p>
        </p:txBody>
      </p:sp>
      <p:sp>
        <p:nvSpPr>
          <p:cNvPr id="258" name="Google Shape;258;g2a8eec26b9a_1_213: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a8eec26b9a_1_22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2a8eec26b9a_1_224: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a8eec26b9a_1_235: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files within your working tree are altered.</a:t>
            </a:r>
            <a:endParaRPr/>
          </a:p>
          <a:p>
            <a:pPr indent="0" lvl="0" marL="0" rtl="0" algn="l">
              <a:spcBef>
                <a:spcPts val="0"/>
              </a:spcBef>
              <a:spcAft>
                <a:spcPts val="0"/>
              </a:spcAft>
              <a:buClr>
                <a:schemeClr val="dk1"/>
              </a:buClr>
              <a:buSzPts val="1100"/>
              <a:buFont typeface="Arial"/>
              <a:buNone/>
            </a:pPr>
            <a:r>
              <a:rPr lang="en"/>
              <a:t>You add only those modifications to the staging area by selectively staging the changes you wish to include in your next commit.</a:t>
            </a:r>
            <a:endParaRPr/>
          </a:p>
          <a:p>
            <a:pPr indent="0" lvl="0" marL="0" rtl="0" algn="l">
              <a:spcBef>
                <a:spcPts val="0"/>
              </a:spcBef>
              <a:spcAft>
                <a:spcPts val="0"/>
              </a:spcAft>
              <a:buClr>
                <a:schemeClr val="dk1"/>
              </a:buClr>
              <a:buSzPts val="1100"/>
              <a:buFont typeface="Arial"/>
              <a:buNone/>
            </a:pPr>
            <a:r>
              <a:rPr lang="en"/>
              <a:t>As soon as you commit, the files in the staging area are taken and permanently stored in your Git directory.</a:t>
            </a:r>
            <a:endParaRPr/>
          </a:p>
          <a:p>
            <a:pPr indent="0" lvl="0" marL="0" rtl="0" algn="l">
              <a:spcBef>
                <a:spcPts val="0"/>
              </a:spcBef>
              <a:spcAft>
                <a:spcPts val="0"/>
              </a:spcAft>
              <a:buNone/>
            </a:pPr>
            <a:r>
              <a:t/>
            </a:r>
            <a:endParaRPr/>
          </a:p>
        </p:txBody>
      </p:sp>
      <p:sp>
        <p:nvSpPr>
          <p:cNvPr id="280" name="Google Shape;280;g2a8eec26b9a_1_235: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a8eec26b9a_1_244:notes"/>
          <p:cNvSpPr txBox="1"/>
          <p:nvPr>
            <p:ph idx="1" type="body"/>
          </p:nvPr>
        </p:nvSpPr>
        <p:spPr>
          <a:xfrm>
            <a:off x="685800" y="4343378"/>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version of a file is deemed committed if it is present in the Git directory.</a:t>
            </a:r>
            <a:endParaRPr/>
          </a:p>
          <a:p>
            <a:pPr indent="0" lvl="0" marL="0" rtl="0" algn="l">
              <a:spcBef>
                <a:spcPts val="0"/>
              </a:spcBef>
              <a:spcAft>
                <a:spcPts val="0"/>
              </a:spcAft>
              <a:buClr>
                <a:schemeClr val="dk1"/>
              </a:buClr>
              <a:buSzPts val="1100"/>
              <a:buFont typeface="Arial"/>
              <a:buNone/>
            </a:pPr>
            <a:r>
              <a:rPr lang="en"/>
              <a:t>It is staged if it has been altered and added to the staging area.</a:t>
            </a:r>
            <a:endParaRPr/>
          </a:p>
          <a:p>
            <a:pPr indent="0" lvl="0" marL="0" rtl="0" algn="l">
              <a:spcBef>
                <a:spcPts val="0"/>
              </a:spcBef>
              <a:spcAft>
                <a:spcPts val="0"/>
              </a:spcAft>
              <a:buClr>
                <a:schemeClr val="dk1"/>
              </a:buClr>
              <a:buSzPts val="1100"/>
              <a:buFont typeface="Arial"/>
              <a:buNone/>
            </a:pPr>
            <a:r>
              <a:rPr lang="en"/>
              <a:t>Additionally, it is adjusted if something has changed after it was checked out but hasn't been staged.</a:t>
            </a:r>
            <a:endParaRPr/>
          </a:p>
          <a:p>
            <a:pPr indent="0" lvl="0" marL="0" rtl="0" algn="l">
              <a:spcBef>
                <a:spcPts val="0"/>
              </a:spcBef>
              <a:spcAft>
                <a:spcPts val="0"/>
              </a:spcAft>
              <a:buNone/>
            </a:pPr>
            <a:r>
              <a:t/>
            </a:r>
            <a:endParaRPr/>
          </a:p>
        </p:txBody>
      </p:sp>
      <p:sp>
        <p:nvSpPr>
          <p:cNvPr id="289" name="Google Shape;289;g2a8eec26b9a_1_244:notes"/>
          <p:cNvSpPr/>
          <p:nvPr>
            <p:ph idx="2" type="sldImg"/>
          </p:nvPr>
        </p:nvSpPr>
        <p:spPr>
          <a:xfrm>
            <a:off x="1143225" y="685778"/>
            <a:ext cx="4572225" cy="34289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21494" y="3262012"/>
            <a:ext cx="8101200" cy="426900"/>
          </a:xfrm>
          <a:prstGeom prst="rect">
            <a:avLst/>
          </a:prstGeom>
          <a:noFill/>
          <a:ln>
            <a:noFill/>
          </a:ln>
        </p:spPr>
        <p:txBody>
          <a:bodyPr anchorCtr="0" anchor="b" bIns="34275" lIns="68575" spcFirstLastPara="1" rIns="68575" wrap="square" tIns="34275">
            <a:normAutofit/>
          </a:bodyPr>
          <a:lstStyle>
            <a:lvl1pPr lvl="0" rtl="0" algn="l">
              <a:lnSpc>
                <a:spcPct val="90000"/>
              </a:lnSpc>
              <a:spcBef>
                <a:spcPts val="0"/>
              </a:spcBef>
              <a:spcAft>
                <a:spcPts val="0"/>
              </a:spcAft>
              <a:buClr>
                <a:schemeClr val="lt1"/>
              </a:buClr>
              <a:buSzPts val="2400"/>
              <a:buFont typeface="Arial"/>
              <a:buNone/>
              <a:defRPr sz="24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subTitle"/>
          </p:nvPr>
        </p:nvSpPr>
        <p:spPr>
          <a:xfrm>
            <a:off x="521494" y="3751510"/>
            <a:ext cx="8101200" cy="288900"/>
          </a:xfrm>
          <a:prstGeom prst="rect">
            <a:avLst/>
          </a:prstGeom>
          <a:noFill/>
          <a:ln>
            <a:noFill/>
          </a:ln>
        </p:spPr>
        <p:txBody>
          <a:bodyPr anchorCtr="0" anchor="t" bIns="34275" lIns="68575" spcFirstLastPara="1" rIns="68575" wrap="square" tIns="34275">
            <a:normAutofit/>
          </a:bodyPr>
          <a:lstStyle>
            <a:lvl1pPr lvl="0" rtl="0" algn="l">
              <a:lnSpc>
                <a:spcPct val="90000"/>
              </a:lnSpc>
              <a:spcBef>
                <a:spcPts val="800"/>
              </a:spcBef>
              <a:spcAft>
                <a:spcPts val="0"/>
              </a:spcAft>
              <a:buClr>
                <a:schemeClr val="lt1"/>
              </a:buClr>
              <a:buSzPts val="1400"/>
              <a:buNone/>
              <a:defRPr sz="1400">
                <a:solidFill>
                  <a:schemeClr val="lt1"/>
                </a:solidFill>
              </a:defRPr>
            </a:lvl1pPr>
            <a:lvl2pPr lvl="1" rtl="0" algn="ctr">
              <a:lnSpc>
                <a:spcPct val="90000"/>
              </a:lnSpc>
              <a:spcBef>
                <a:spcPts val="1200"/>
              </a:spcBef>
              <a:spcAft>
                <a:spcPts val="0"/>
              </a:spcAft>
              <a:buClr>
                <a:schemeClr val="dk1"/>
              </a:buClr>
              <a:buSzPts val="1500"/>
              <a:buNone/>
              <a:defRPr sz="1500"/>
            </a:lvl2pPr>
            <a:lvl3pPr lvl="2" rtl="0" algn="ctr">
              <a:lnSpc>
                <a:spcPct val="90000"/>
              </a:lnSpc>
              <a:spcBef>
                <a:spcPts val="1200"/>
              </a:spcBef>
              <a:spcAft>
                <a:spcPts val="0"/>
              </a:spcAft>
              <a:buClr>
                <a:schemeClr val="dk1"/>
              </a:buClr>
              <a:buSzPts val="1400"/>
              <a:buNone/>
              <a:defRPr sz="1400"/>
            </a:lvl3pPr>
            <a:lvl4pPr lvl="3" rtl="0" algn="ctr">
              <a:lnSpc>
                <a:spcPct val="90000"/>
              </a:lnSpc>
              <a:spcBef>
                <a:spcPts val="1200"/>
              </a:spcBef>
              <a:spcAft>
                <a:spcPts val="0"/>
              </a:spcAft>
              <a:buClr>
                <a:schemeClr val="dk1"/>
              </a:buClr>
              <a:buSzPts val="1200"/>
              <a:buNone/>
              <a:defRPr sz="1200"/>
            </a:lvl4pPr>
            <a:lvl5pPr lvl="4" rtl="0" algn="ctr">
              <a:lnSpc>
                <a:spcPct val="90000"/>
              </a:lnSpc>
              <a:spcBef>
                <a:spcPts val="1200"/>
              </a:spcBef>
              <a:spcAft>
                <a:spcPts val="0"/>
              </a:spcAft>
              <a:buClr>
                <a:schemeClr val="dk1"/>
              </a:buClr>
              <a:buSzPts val="1200"/>
              <a:buNone/>
              <a:defRPr sz="1200"/>
            </a:lvl5pPr>
            <a:lvl6pPr lvl="5" rtl="0" algn="ctr">
              <a:lnSpc>
                <a:spcPct val="90000"/>
              </a:lnSpc>
              <a:spcBef>
                <a:spcPts val="1200"/>
              </a:spcBef>
              <a:spcAft>
                <a:spcPts val="0"/>
              </a:spcAft>
              <a:buClr>
                <a:schemeClr val="dk1"/>
              </a:buClr>
              <a:buSzPts val="1200"/>
              <a:buNone/>
              <a:defRPr sz="1200"/>
            </a:lvl6pPr>
            <a:lvl7pPr lvl="6" rtl="0" algn="ctr">
              <a:lnSpc>
                <a:spcPct val="90000"/>
              </a:lnSpc>
              <a:spcBef>
                <a:spcPts val="1200"/>
              </a:spcBef>
              <a:spcAft>
                <a:spcPts val="0"/>
              </a:spcAft>
              <a:buClr>
                <a:schemeClr val="dk1"/>
              </a:buClr>
              <a:buSzPts val="1200"/>
              <a:buNone/>
              <a:defRPr sz="1200"/>
            </a:lvl7pPr>
            <a:lvl8pPr lvl="7" rtl="0" algn="ctr">
              <a:lnSpc>
                <a:spcPct val="90000"/>
              </a:lnSpc>
              <a:spcBef>
                <a:spcPts val="1200"/>
              </a:spcBef>
              <a:spcAft>
                <a:spcPts val="0"/>
              </a:spcAft>
              <a:buClr>
                <a:schemeClr val="dk1"/>
              </a:buClr>
              <a:buSzPts val="1200"/>
              <a:buNone/>
              <a:defRPr sz="1200"/>
            </a:lvl8pPr>
            <a:lvl9pPr lvl="8" rtl="0" algn="ctr">
              <a:lnSpc>
                <a:spcPct val="90000"/>
              </a:lnSpc>
              <a:spcBef>
                <a:spcPts val="1200"/>
              </a:spcBef>
              <a:spcAft>
                <a:spcPts val="1200"/>
              </a:spcAft>
              <a:buClr>
                <a:schemeClr val="dk1"/>
              </a:buClr>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59" name="Shape 59"/>
        <p:cNvGrpSpPr/>
        <p:nvPr/>
      </p:nvGrpSpPr>
      <p:grpSpPr>
        <a:xfrm>
          <a:off x="0" y="0"/>
          <a:ext cx="0" cy="0"/>
          <a:chOff x="0" y="0"/>
          <a:chExt cx="0" cy="0"/>
        </a:xfrm>
      </p:grpSpPr>
      <p:pic>
        <p:nvPicPr>
          <p:cNvPr id="60" name="Google Shape;60;p15"/>
          <p:cNvPicPr preferRelativeResize="0"/>
          <p:nvPr/>
        </p:nvPicPr>
        <p:blipFill rotWithShape="1">
          <a:blip r:embed="rId2">
            <a:alphaModFix/>
          </a:blip>
          <a:srcRect b="0" l="0" r="0" t="0"/>
          <a:stretch/>
        </p:blipFill>
        <p:spPr>
          <a:xfrm>
            <a:off x="0" y="0"/>
            <a:ext cx="9143999" cy="5143499"/>
          </a:xfrm>
          <a:prstGeom prst="rect">
            <a:avLst/>
          </a:prstGeom>
          <a:noFill/>
          <a:ln>
            <a:noFill/>
          </a:ln>
        </p:spPr>
      </p:pic>
      <p:sp>
        <p:nvSpPr>
          <p:cNvPr id="61" name="Google Shape;61;p15"/>
          <p:cNvSpPr txBox="1"/>
          <p:nvPr>
            <p:ph type="ctrTitle"/>
          </p:nvPr>
        </p:nvSpPr>
        <p:spPr>
          <a:xfrm>
            <a:off x="1114811" y="488758"/>
            <a:ext cx="6914376" cy="1943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6" name="Shape 66"/>
        <p:cNvGrpSpPr/>
        <p:nvPr/>
      </p:nvGrpSpPr>
      <p:grpSpPr>
        <a:xfrm>
          <a:off x="0" y="0"/>
          <a:ext cx="0" cy="0"/>
          <a:chOff x="0" y="0"/>
          <a:chExt cx="0" cy="0"/>
        </a:xfrm>
      </p:grpSpPr>
      <p:sp>
        <p:nvSpPr>
          <p:cNvPr id="67" name="Google Shape;67;p1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0" name="Shape 70"/>
        <p:cNvGrpSpPr/>
        <p:nvPr/>
      </p:nvGrpSpPr>
      <p:grpSpPr>
        <a:xfrm>
          <a:off x="0" y="0"/>
          <a:ext cx="0" cy="0"/>
          <a:chOff x="0" y="0"/>
          <a:chExt cx="0" cy="0"/>
        </a:xfrm>
      </p:grpSpPr>
      <p:sp>
        <p:nvSpPr>
          <p:cNvPr id="71" name="Google Shape;71;p17"/>
          <p:cNvSpPr txBox="1"/>
          <p:nvPr>
            <p:ph type="title"/>
          </p:nvPr>
        </p:nvSpPr>
        <p:spPr>
          <a:xfrm>
            <a:off x="384725" y="638926"/>
            <a:ext cx="8374549"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7"/>
          <p:cNvSpPr txBox="1"/>
          <p:nvPr>
            <p:ph idx="1" type="body"/>
          </p:nvPr>
        </p:nvSpPr>
        <p:spPr>
          <a:xfrm>
            <a:off x="478335" y="1558042"/>
            <a:ext cx="8187328" cy="31102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200">
                <a:solidFill>
                  <a:srgbClr val="4E443C"/>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3" name="Google Shape;73;p1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6" name="Shape 76"/>
        <p:cNvGrpSpPr/>
        <p:nvPr/>
      </p:nvGrpSpPr>
      <p:grpSpPr>
        <a:xfrm>
          <a:off x="0" y="0"/>
          <a:ext cx="0" cy="0"/>
          <a:chOff x="0" y="0"/>
          <a:chExt cx="0" cy="0"/>
        </a:xfrm>
      </p:grpSpPr>
      <p:sp>
        <p:nvSpPr>
          <p:cNvPr id="77" name="Google Shape;77;p18"/>
          <p:cNvSpPr txBox="1"/>
          <p:nvPr>
            <p:ph type="title"/>
          </p:nvPr>
        </p:nvSpPr>
        <p:spPr>
          <a:xfrm>
            <a:off x="384725" y="638926"/>
            <a:ext cx="8374549"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8"/>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8"/>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1" name="Shape 81"/>
        <p:cNvGrpSpPr/>
        <p:nvPr/>
      </p:nvGrpSpPr>
      <p:grpSpPr>
        <a:xfrm>
          <a:off x="0" y="0"/>
          <a:ext cx="0" cy="0"/>
          <a:chOff x="0" y="0"/>
          <a:chExt cx="0" cy="0"/>
        </a:xfrm>
      </p:grpSpPr>
      <p:sp>
        <p:nvSpPr>
          <p:cNvPr id="82" name="Google Shape;82;p19"/>
          <p:cNvSpPr txBox="1"/>
          <p:nvPr>
            <p:ph type="title"/>
          </p:nvPr>
        </p:nvSpPr>
        <p:spPr>
          <a:xfrm>
            <a:off x="384725" y="638926"/>
            <a:ext cx="8374549"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9"/>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4" name="Google Shape;84;p19"/>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5" name="Google Shape;85;p19"/>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9"/>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9"/>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384725" y="638926"/>
            <a:ext cx="8374549" cy="45211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 name="Google Shape;55;p14"/>
          <p:cNvSpPr txBox="1"/>
          <p:nvPr>
            <p:ph idx="1" type="body"/>
          </p:nvPr>
        </p:nvSpPr>
        <p:spPr>
          <a:xfrm>
            <a:off x="478335" y="1558042"/>
            <a:ext cx="8187328" cy="31102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200" u="none" cap="none" strike="noStrike">
                <a:solidFill>
                  <a:srgbClr val="4E443C"/>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56" name="Google Shape;56;p1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7" name="Google Shape;57;p1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 name="Google Shape;58;p1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defRPr>
            </a:lvl1pPr>
            <a:lvl2pPr indent="0" lvl="1" marL="0" marR="0" rtl="0" algn="r">
              <a:spcBef>
                <a:spcPts val="0"/>
              </a:spcBef>
              <a:buNone/>
              <a:defRPr b="0" i="0" sz="1800" u="none" cap="none" strike="noStrike">
                <a:solidFill>
                  <a:srgbClr val="888888"/>
                </a:solidFill>
              </a:defRPr>
            </a:lvl2pPr>
            <a:lvl3pPr indent="0" lvl="2" marL="0" marR="0" rtl="0" algn="r">
              <a:spcBef>
                <a:spcPts val="0"/>
              </a:spcBef>
              <a:buNone/>
              <a:defRPr b="0" i="0" sz="1800" u="none" cap="none" strike="noStrike">
                <a:solidFill>
                  <a:srgbClr val="888888"/>
                </a:solidFill>
              </a:defRPr>
            </a:lvl3pPr>
            <a:lvl4pPr indent="0" lvl="3" marL="0" marR="0" rtl="0" algn="r">
              <a:spcBef>
                <a:spcPts val="0"/>
              </a:spcBef>
              <a:buNone/>
              <a:defRPr b="0" i="0" sz="1800" u="none" cap="none" strike="noStrike">
                <a:solidFill>
                  <a:srgbClr val="888888"/>
                </a:solidFill>
              </a:defRPr>
            </a:lvl4pPr>
            <a:lvl5pPr indent="0" lvl="4" marL="0" marR="0" rtl="0" algn="r">
              <a:spcBef>
                <a:spcPts val="0"/>
              </a:spcBef>
              <a:buNone/>
              <a:defRPr b="0" i="0" sz="1800" u="none" cap="none" strike="noStrike">
                <a:solidFill>
                  <a:srgbClr val="888888"/>
                </a:solidFill>
              </a:defRPr>
            </a:lvl5pPr>
            <a:lvl6pPr indent="0" lvl="5" marL="0" marR="0" rtl="0" algn="r">
              <a:spcBef>
                <a:spcPts val="0"/>
              </a:spcBef>
              <a:buNone/>
              <a:defRPr b="0" i="0" sz="1800" u="none" cap="none" strike="noStrike">
                <a:solidFill>
                  <a:srgbClr val="888888"/>
                </a:solidFill>
              </a:defRPr>
            </a:lvl6pPr>
            <a:lvl7pPr indent="0" lvl="6" marL="0" marR="0" rtl="0" algn="r">
              <a:spcBef>
                <a:spcPts val="0"/>
              </a:spcBef>
              <a:buNone/>
              <a:defRPr b="0" i="0" sz="1800" u="none" cap="none" strike="noStrike">
                <a:solidFill>
                  <a:srgbClr val="888888"/>
                </a:solidFill>
              </a:defRPr>
            </a:lvl7pPr>
            <a:lvl8pPr indent="0" lvl="7" marL="0" marR="0" rtl="0" algn="r">
              <a:spcBef>
                <a:spcPts val="0"/>
              </a:spcBef>
              <a:buNone/>
              <a:defRPr b="0" i="0" sz="1800" u="none" cap="none" strike="noStrike">
                <a:solidFill>
                  <a:srgbClr val="888888"/>
                </a:solidFill>
              </a:defRPr>
            </a:lvl8pPr>
            <a:lvl9pPr indent="0" lvl="8" marL="0" marR="0" rtl="0" algn="r">
              <a:spcBef>
                <a:spcPts val="0"/>
              </a:spcBef>
              <a:buNone/>
              <a:defRPr b="0" i="0" sz="1800" u="none" cap="none" strike="noStrike">
                <a:solidFill>
                  <a:srgbClr val="888888"/>
                </a:solidFill>
              </a:defRPr>
            </a:lvl9pPr>
          </a:lstStyle>
          <a:p>
            <a:pPr indent="0" lvl="0" marL="0" rtl="0" algn="r">
              <a:spcBef>
                <a:spcPts val="0"/>
              </a:spcBef>
              <a:spcAft>
                <a:spcPts val="0"/>
              </a:spcAft>
              <a:buNone/>
            </a:pPr>
            <a:fld id="{00000000-1234-1234-1234-123412341234}" type="slidenum">
              <a:rPr lang="en"/>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8.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type="ctrTitle"/>
          </p:nvPr>
        </p:nvSpPr>
        <p:spPr>
          <a:xfrm>
            <a:off x="521494" y="3262012"/>
            <a:ext cx="8101200" cy="4269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SzPts val="800"/>
              <a:buFont typeface="Arial"/>
              <a:buNone/>
            </a:pPr>
            <a:r>
              <a:rPr lang="en">
                <a:latin typeface="Times New Roman"/>
                <a:ea typeface="Times New Roman"/>
                <a:cs typeface="Times New Roman"/>
                <a:sym typeface="Times New Roman"/>
              </a:rPr>
              <a:t>Practice 11.</a:t>
            </a:r>
            <a:endParaRPr>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1100"/>
              <a:buFont typeface="Arial"/>
              <a:buNone/>
            </a:pPr>
            <a:r>
              <a:rPr lang="en" sz="2100">
                <a:latin typeface="Times New Roman"/>
                <a:ea typeface="Times New Roman"/>
                <a:cs typeface="Times New Roman"/>
                <a:sym typeface="Times New Roman"/>
              </a:rPr>
              <a:t>Perform simple tutorial on Git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 name="Shape 96"/>
        <p:cNvGrpSpPr/>
        <p:nvPr/>
      </p:nvGrpSpPr>
      <p:grpSpPr>
        <a:xfrm>
          <a:off x="0" y="0"/>
          <a:ext cx="0" cy="0"/>
          <a:chOff x="0" y="0"/>
          <a:chExt cx="0" cy="0"/>
        </a:xfrm>
      </p:grpSpPr>
      <p:sp>
        <p:nvSpPr>
          <p:cNvPr id="97" name="Google Shape;97;p21"/>
          <p:cNvSpPr txBox="1"/>
          <p:nvPr>
            <p:ph type="title"/>
          </p:nvPr>
        </p:nvSpPr>
        <p:spPr>
          <a:xfrm>
            <a:off x="384725" y="638926"/>
            <a:ext cx="405384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What is “version control”?</a:t>
            </a:r>
            <a:endParaRPr/>
          </a:p>
        </p:txBody>
      </p:sp>
      <p:sp>
        <p:nvSpPr>
          <p:cNvPr id="98" name="Google Shape;98;p21"/>
          <p:cNvSpPr txBox="1"/>
          <p:nvPr/>
        </p:nvSpPr>
        <p:spPr>
          <a:xfrm>
            <a:off x="528773" y="1169620"/>
            <a:ext cx="5205095" cy="3180080"/>
          </a:xfrm>
          <a:prstGeom prst="rect">
            <a:avLst/>
          </a:prstGeom>
          <a:noFill/>
          <a:ln>
            <a:noFill/>
          </a:ln>
        </p:spPr>
        <p:txBody>
          <a:bodyPr anchorCtr="0" anchor="t" bIns="0" lIns="0" spcFirstLastPara="1" rIns="0" wrap="square" tIns="12700">
            <a:spAutoFit/>
          </a:bodyPr>
          <a:lstStyle/>
          <a:p>
            <a:pPr indent="-313690" lvl="0" marL="325755" marR="66040" rtl="0" algn="l">
              <a:lnSpc>
                <a:spcPct val="114999"/>
              </a:lnSpc>
              <a:spcBef>
                <a:spcPts val="0"/>
              </a:spcBef>
              <a:spcAft>
                <a:spcPts val="0"/>
              </a:spcAft>
              <a:buSzPts val="2000"/>
              <a:buFont typeface="Arial"/>
              <a:buChar char="-"/>
            </a:pPr>
            <a:r>
              <a:rPr lang="en" sz="2000">
                <a:latin typeface="Arial"/>
                <a:ea typeface="Arial"/>
                <a:cs typeface="Arial"/>
                <a:sym typeface="Arial"/>
              </a:rPr>
              <a:t>Version control is a system that records  changes to a file or set of files over time so  that you can recall specific versions later.</a:t>
            </a:r>
            <a:endParaRPr sz="2000">
              <a:latin typeface="Arial"/>
              <a:ea typeface="Arial"/>
              <a:cs typeface="Arial"/>
              <a:sym typeface="Arial"/>
            </a:endParaRPr>
          </a:p>
          <a:p>
            <a:pPr indent="-313690" lvl="0" marL="325755" marR="5080" rtl="0" algn="l">
              <a:lnSpc>
                <a:spcPct val="114999"/>
              </a:lnSpc>
              <a:spcBef>
                <a:spcPts val="0"/>
              </a:spcBef>
              <a:spcAft>
                <a:spcPts val="0"/>
              </a:spcAft>
              <a:buSzPts val="2000"/>
              <a:buFont typeface="Arial"/>
              <a:buChar char="-"/>
            </a:pPr>
            <a:r>
              <a:rPr lang="en" sz="2000">
                <a:latin typeface="Arial"/>
                <a:ea typeface="Arial"/>
                <a:cs typeface="Arial"/>
                <a:sym typeface="Arial"/>
              </a:rPr>
              <a:t>It allows you to revert selected files back to  a previous state, revert the entire project  back to a previous state, compare changes  over time, see who last modified something  that might be causing a problem, who  introduced an issue and when, and more.</a:t>
            </a:r>
            <a:endParaRPr sz="2000">
              <a:latin typeface="Arial"/>
              <a:ea typeface="Arial"/>
              <a:cs typeface="Arial"/>
              <a:sym typeface="Arial"/>
            </a:endParaRPr>
          </a:p>
        </p:txBody>
      </p:sp>
      <p:pic>
        <p:nvPicPr>
          <p:cNvPr id="99" name="Google Shape;99;p21"/>
          <p:cNvPicPr preferRelativeResize="0"/>
          <p:nvPr/>
        </p:nvPicPr>
        <p:blipFill rotWithShape="1">
          <a:blip r:embed="rId3">
            <a:alphaModFix/>
          </a:blip>
          <a:srcRect b="0" l="0" r="0" t="0"/>
          <a:stretch/>
        </p:blipFill>
        <p:spPr>
          <a:xfrm>
            <a:off x="6247425" y="1600825"/>
            <a:ext cx="2394858" cy="23948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3" name="Shape 103"/>
        <p:cNvGrpSpPr/>
        <p:nvPr/>
      </p:nvGrpSpPr>
      <p:grpSpPr>
        <a:xfrm>
          <a:off x="0" y="0"/>
          <a:ext cx="0" cy="0"/>
          <a:chOff x="0" y="0"/>
          <a:chExt cx="0" cy="0"/>
        </a:xfrm>
      </p:grpSpPr>
      <p:sp>
        <p:nvSpPr>
          <p:cNvPr id="104" name="Google Shape;104;p22"/>
          <p:cNvSpPr txBox="1"/>
          <p:nvPr>
            <p:ph type="title"/>
          </p:nvPr>
        </p:nvSpPr>
        <p:spPr>
          <a:xfrm>
            <a:off x="384725" y="638926"/>
            <a:ext cx="405384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What is “version control”?</a:t>
            </a:r>
            <a:endParaRPr/>
          </a:p>
        </p:txBody>
      </p:sp>
      <p:sp>
        <p:nvSpPr>
          <p:cNvPr id="105" name="Google Shape;105;p22"/>
          <p:cNvSpPr txBox="1"/>
          <p:nvPr/>
        </p:nvSpPr>
        <p:spPr>
          <a:xfrm>
            <a:off x="528773" y="1507847"/>
            <a:ext cx="5043805" cy="2549525"/>
          </a:xfrm>
          <a:prstGeom prst="rect">
            <a:avLst/>
          </a:prstGeom>
          <a:noFill/>
          <a:ln>
            <a:noFill/>
          </a:ln>
        </p:spPr>
        <p:txBody>
          <a:bodyPr anchorCtr="0" anchor="t" bIns="0" lIns="0" spcFirstLastPara="1" rIns="0" wrap="square" tIns="12700">
            <a:spAutoFit/>
          </a:bodyPr>
          <a:lstStyle/>
          <a:p>
            <a:pPr indent="-313690" lvl="0" marL="325755" marR="5080" rtl="0" algn="l">
              <a:lnSpc>
                <a:spcPct val="114999"/>
              </a:lnSpc>
              <a:spcBef>
                <a:spcPts val="0"/>
              </a:spcBef>
              <a:spcAft>
                <a:spcPts val="0"/>
              </a:spcAft>
              <a:buSzPts val="2000"/>
              <a:buFont typeface="Arial"/>
              <a:buChar char="-"/>
            </a:pPr>
            <a:r>
              <a:rPr lang="en" sz="2400">
                <a:latin typeface="Arial"/>
                <a:ea typeface="Arial"/>
                <a:cs typeface="Arial"/>
                <a:sym typeface="Arial"/>
              </a:rPr>
              <a:t>Using a VCS also generally means  that if you screw things up or lose  files, you can easily recover.</a:t>
            </a:r>
            <a:endParaRPr sz="2400">
              <a:latin typeface="Arial"/>
              <a:ea typeface="Arial"/>
              <a:cs typeface="Arial"/>
              <a:sym typeface="Arial"/>
            </a:endParaRPr>
          </a:p>
          <a:p>
            <a:pPr indent="0" lvl="0" marL="0" marR="0" rtl="0" algn="l">
              <a:lnSpc>
                <a:spcPct val="100000"/>
              </a:lnSpc>
              <a:spcBef>
                <a:spcPts val="30"/>
              </a:spcBef>
              <a:spcAft>
                <a:spcPts val="0"/>
              </a:spcAft>
              <a:buSzPts val="2850"/>
              <a:buFont typeface="Arial"/>
              <a:buNone/>
            </a:pPr>
            <a:r>
              <a:t/>
            </a:r>
            <a:endParaRPr sz="2850">
              <a:latin typeface="Arial"/>
              <a:ea typeface="Arial"/>
              <a:cs typeface="Arial"/>
              <a:sym typeface="Arial"/>
            </a:endParaRPr>
          </a:p>
          <a:p>
            <a:pPr indent="-313690" lvl="0" marL="325755" marR="92075" rtl="0" algn="l">
              <a:lnSpc>
                <a:spcPct val="114999"/>
              </a:lnSpc>
              <a:spcBef>
                <a:spcPts val="5"/>
              </a:spcBef>
              <a:spcAft>
                <a:spcPts val="0"/>
              </a:spcAft>
              <a:buSzPts val="2000"/>
              <a:buFont typeface="Arial"/>
              <a:buChar char="-"/>
            </a:pPr>
            <a:r>
              <a:rPr lang="en" sz="2400">
                <a:latin typeface="Arial"/>
                <a:ea typeface="Arial"/>
                <a:cs typeface="Arial"/>
                <a:sym typeface="Arial"/>
              </a:rPr>
              <a:t>In addition, you get all this for very  little overhead.</a:t>
            </a:r>
            <a:endParaRPr sz="2400">
              <a:latin typeface="Arial"/>
              <a:ea typeface="Arial"/>
              <a:cs typeface="Arial"/>
              <a:sym typeface="Arial"/>
            </a:endParaRPr>
          </a:p>
        </p:txBody>
      </p:sp>
      <p:pic>
        <p:nvPicPr>
          <p:cNvPr id="106" name="Google Shape;106;p22"/>
          <p:cNvPicPr preferRelativeResize="0"/>
          <p:nvPr/>
        </p:nvPicPr>
        <p:blipFill rotWithShape="1">
          <a:blip r:embed="rId3">
            <a:alphaModFix/>
          </a:blip>
          <a:srcRect b="0" l="0" r="0" t="0"/>
          <a:stretch/>
        </p:blipFill>
        <p:spPr>
          <a:xfrm>
            <a:off x="6274818" y="1778073"/>
            <a:ext cx="2243849" cy="20487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 name="Shape 110"/>
        <p:cNvGrpSpPr/>
        <p:nvPr/>
      </p:nvGrpSpPr>
      <p:grpSpPr>
        <a:xfrm>
          <a:off x="0" y="0"/>
          <a:ext cx="0" cy="0"/>
          <a:chOff x="0" y="0"/>
          <a:chExt cx="0" cy="0"/>
        </a:xfrm>
      </p:grpSpPr>
      <p:sp>
        <p:nvSpPr>
          <p:cNvPr id="111" name="Google Shape;111;p23"/>
          <p:cNvSpPr txBox="1"/>
          <p:nvPr>
            <p:ph type="title"/>
          </p:nvPr>
        </p:nvSpPr>
        <p:spPr>
          <a:xfrm>
            <a:off x="384725" y="638926"/>
            <a:ext cx="330517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Version control issue</a:t>
            </a:r>
            <a:endParaRPr/>
          </a:p>
        </p:txBody>
      </p:sp>
      <p:pic>
        <p:nvPicPr>
          <p:cNvPr id="112" name="Google Shape;112;p23"/>
          <p:cNvPicPr preferRelativeResize="0"/>
          <p:nvPr/>
        </p:nvPicPr>
        <p:blipFill rotWithShape="1">
          <a:blip r:embed="rId3">
            <a:alphaModFix/>
          </a:blip>
          <a:srcRect b="0" l="0" r="0" t="0"/>
          <a:stretch/>
        </p:blipFill>
        <p:spPr>
          <a:xfrm>
            <a:off x="6228675" y="580125"/>
            <a:ext cx="2141452" cy="1785937"/>
          </a:xfrm>
          <a:prstGeom prst="rect">
            <a:avLst/>
          </a:prstGeom>
          <a:noFill/>
          <a:ln>
            <a:noFill/>
          </a:ln>
        </p:spPr>
      </p:pic>
      <p:sp>
        <p:nvSpPr>
          <p:cNvPr id="113" name="Google Shape;113;p23"/>
          <p:cNvSpPr txBox="1"/>
          <p:nvPr/>
        </p:nvSpPr>
        <p:spPr>
          <a:xfrm>
            <a:off x="528773" y="1169620"/>
            <a:ext cx="8051800" cy="3898900"/>
          </a:xfrm>
          <a:prstGeom prst="rect">
            <a:avLst/>
          </a:prstGeom>
          <a:noFill/>
          <a:ln>
            <a:noFill/>
          </a:ln>
        </p:spPr>
        <p:txBody>
          <a:bodyPr anchorCtr="0" anchor="t" bIns="0" lIns="0" spcFirstLastPara="1" rIns="0" wrap="square" tIns="12700">
            <a:spAutoFit/>
          </a:bodyPr>
          <a:lstStyle/>
          <a:p>
            <a:pPr indent="-313690" lvl="0" marL="325755" marR="286766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Many people’s version-control method of  choice is to copy files into another directory  (perhaps a time-stamped directory, if  they’re clever).</a:t>
            </a:r>
            <a:endParaRPr sz="2000">
              <a:latin typeface="Arial"/>
              <a:ea typeface="Arial"/>
              <a:cs typeface="Arial"/>
              <a:sym typeface="Arial"/>
            </a:endParaRPr>
          </a:p>
          <a:p>
            <a:pPr indent="-313690" lvl="0" marL="325755" marR="158115" rtl="0" algn="l">
              <a:lnSpc>
                <a:spcPct val="114999"/>
              </a:lnSpc>
              <a:spcBef>
                <a:spcPts val="135"/>
              </a:spcBef>
              <a:spcAft>
                <a:spcPts val="0"/>
              </a:spcAft>
              <a:buClr>
                <a:srgbClr val="000000"/>
              </a:buClr>
              <a:buSzPts val="2000"/>
              <a:buFont typeface="Arial"/>
              <a:buChar char="-"/>
            </a:pPr>
            <a:r>
              <a:rPr lang="en" sz="2000">
                <a:solidFill>
                  <a:srgbClr val="4E443C"/>
                </a:solidFill>
                <a:latin typeface="Arial"/>
                <a:ea typeface="Arial"/>
                <a:cs typeface="Arial"/>
                <a:sym typeface="Arial"/>
              </a:rPr>
              <a:t>This approach is very common because it is so simple, but it is also  incredibly </a:t>
            </a:r>
            <a:r>
              <a:rPr lang="en" sz="2000">
                <a:solidFill>
                  <a:srgbClr val="FF0000"/>
                </a:solidFill>
                <a:latin typeface="Arial"/>
                <a:ea typeface="Arial"/>
                <a:cs typeface="Arial"/>
                <a:sym typeface="Arial"/>
              </a:rPr>
              <a:t>error prone</a:t>
            </a:r>
            <a:r>
              <a:rPr lang="en" sz="2000">
                <a:solidFill>
                  <a:srgbClr val="4E443C"/>
                </a:solidFill>
                <a:latin typeface="Arial"/>
                <a:ea typeface="Arial"/>
                <a:cs typeface="Arial"/>
                <a:sym typeface="Arial"/>
              </a:rPr>
              <a:t>. It is easy to forget which directory you’re in  and accidentally write to the wrong file or copy over files you don’t  mean to.</a:t>
            </a:r>
            <a:endParaRPr sz="2000">
              <a:latin typeface="Arial"/>
              <a:ea typeface="Arial"/>
              <a:cs typeface="Arial"/>
              <a:sym typeface="Arial"/>
            </a:endParaRPr>
          </a:p>
          <a:p>
            <a:pPr indent="-313690" lvl="0" marL="325755" marR="508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To deal with this issue, programmers long ago developed local VCSs  that had a simple database that kept all the changes to files under  revision control.</a:t>
            </a:r>
            <a:endParaRPr sz="20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84725" y="638926"/>
            <a:ext cx="328612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Local version control</a:t>
            </a:r>
            <a:endParaRPr/>
          </a:p>
        </p:txBody>
      </p:sp>
      <p:sp>
        <p:nvSpPr>
          <p:cNvPr id="119" name="Google Shape;119;p24"/>
          <p:cNvSpPr txBox="1"/>
          <p:nvPr/>
        </p:nvSpPr>
        <p:spPr>
          <a:xfrm>
            <a:off x="4893152" y="1345040"/>
            <a:ext cx="3762375" cy="3236595"/>
          </a:xfrm>
          <a:prstGeom prst="rect">
            <a:avLst/>
          </a:prstGeom>
          <a:noFill/>
          <a:ln>
            <a:noFill/>
          </a:ln>
        </p:spPr>
        <p:txBody>
          <a:bodyPr anchorCtr="0" anchor="t" bIns="0" lIns="0" spcFirstLastPara="1" rIns="0" wrap="square" tIns="38725">
            <a:spAutoFit/>
          </a:bodyPr>
          <a:lstStyle/>
          <a:p>
            <a:pPr indent="-313690" lvl="0" marL="325755" marR="0" rtl="0" algn="l">
              <a:lnSpc>
                <a:spcPct val="100000"/>
              </a:lnSpc>
              <a:spcBef>
                <a:spcPts val="0"/>
              </a:spcBef>
              <a:spcAft>
                <a:spcPts val="0"/>
              </a:spcAft>
              <a:buClr>
                <a:srgbClr val="000000"/>
              </a:buClr>
              <a:buSzPts val="2000"/>
              <a:buFont typeface="Arial"/>
              <a:buChar char="-"/>
            </a:pPr>
            <a:r>
              <a:rPr lang="en" sz="1800">
                <a:solidFill>
                  <a:srgbClr val="4E443C"/>
                </a:solidFill>
                <a:latin typeface="Arial"/>
                <a:ea typeface="Arial"/>
                <a:cs typeface="Arial"/>
                <a:sym typeface="Arial"/>
              </a:rPr>
              <a:t>One of the most popular VCS</a:t>
            </a:r>
            <a:endParaRPr sz="1800">
              <a:latin typeface="Arial"/>
              <a:ea typeface="Arial"/>
              <a:cs typeface="Arial"/>
              <a:sym typeface="Arial"/>
            </a:endParaRPr>
          </a:p>
          <a:p>
            <a:pPr indent="0" lvl="0" marL="325755" marR="13334" rtl="0" algn="l">
              <a:lnSpc>
                <a:spcPct val="114999"/>
              </a:lnSpc>
              <a:spcBef>
                <a:spcPts val="45"/>
              </a:spcBef>
              <a:spcAft>
                <a:spcPts val="0"/>
              </a:spcAft>
              <a:buNone/>
            </a:pPr>
            <a:r>
              <a:rPr lang="en" sz="1800">
                <a:solidFill>
                  <a:srgbClr val="4E443C"/>
                </a:solidFill>
                <a:latin typeface="Arial"/>
                <a:ea typeface="Arial"/>
                <a:cs typeface="Arial"/>
                <a:sym typeface="Arial"/>
              </a:rPr>
              <a:t>tools was a system called RCS,  which is still distributed with many  computers today.</a:t>
            </a:r>
            <a:endParaRPr sz="1800">
              <a:latin typeface="Arial"/>
              <a:ea typeface="Arial"/>
              <a:cs typeface="Arial"/>
              <a:sym typeface="Arial"/>
            </a:endParaRPr>
          </a:p>
          <a:p>
            <a:pPr indent="-313690" lvl="0" marL="325755" marR="0" rtl="0" algn="l">
              <a:lnSpc>
                <a:spcPct val="100000"/>
              </a:lnSpc>
              <a:spcBef>
                <a:spcPts val="315"/>
              </a:spcBef>
              <a:spcAft>
                <a:spcPts val="0"/>
              </a:spcAft>
              <a:buClr>
                <a:srgbClr val="000000"/>
              </a:buClr>
              <a:buSzPts val="2000"/>
              <a:buFont typeface="Arial"/>
              <a:buChar char="-"/>
            </a:pPr>
            <a:r>
              <a:rPr lang="en" sz="1800">
                <a:solidFill>
                  <a:srgbClr val="4E443C"/>
                </a:solidFill>
                <a:latin typeface="Arial"/>
                <a:ea typeface="Arial"/>
                <a:cs typeface="Arial"/>
                <a:sym typeface="Arial"/>
              </a:rPr>
              <a:t>RCS works by keeping patch sets</a:t>
            </a:r>
            <a:endParaRPr sz="1800">
              <a:latin typeface="Arial"/>
              <a:ea typeface="Arial"/>
              <a:cs typeface="Arial"/>
              <a:sym typeface="Arial"/>
            </a:endParaRPr>
          </a:p>
          <a:p>
            <a:pPr indent="0" lvl="0" marL="325755" marR="5080" rtl="0" algn="l">
              <a:lnSpc>
                <a:spcPct val="114999"/>
              </a:lnSpc>
              <a:spcBef>
                <a:spcPts val="45"/>
              </a:spcBef>
              <a:spcAft>
                <a:spcPts val="0"/>
              </a:spcAft>
              <a:buNone/>
            </a:pPr>
            <a:r>
              <a:rPr lang="en" sz="1800">
                <a:solidFill>
                  <a:srgbClr val="4E443C"/>
                </a:solidFill>
                <a:latin typeface="Arial"/>
                <a:ea typeface="Arial"/>
                <a:cs typeface="Arial"/>
                <a:sym typeface="Arial"/>
              </a:rPr>
              <a:t>(that is, the differences between  files) in a special format on disk; it  can then re-create what any file  looked like at any point in time by  adding up all the patches.</a:t>
            </a:r>
            <a:endParaRPr sz="1800">
              <a:latin typeface="Arial"/>
              <a:ea typeface="Arial"/>
              <a:cs typeface="Arial"/>
              <a:sym typeface="Arial"/>
            </a:endParaRPr>
          </a:p>
        </p:txBody>
      </p:sp>
      <p:pic>
        <p:nvPicPr>
          <p:cNvPr id="120" name="Google Shape;120;p24"/>
          <p:cNvPicPr preferRelativeResize="0"/>
          <p:nvPr/>
        </p:nvPicPr>
        <p:blipFill rotWithShape="1">
          <a:blip r:embed="rId3">
            <a:alphaModFix/>
          </a:blip>
          <a:srcRect b="0" l="0" r="0" t="0"/>
          <a:stretch/>
        </p:blipFill>
        <p:spPr>
          <a:xfrm>
            <a:off x="442938" y="1344092"/>
            <a:ext cx="3918454" cy="33453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4" name="Shape 124"/>
        <p:cNvGrpSpPr/>
        <p:nvPr/>
      </p:nvGrpSpPr>
      <p:grpSpPr>
        <a:xfrm>
          <a:off x="0" y="0"/>
          <a:ext cx="0" cy="0"/>
          <a:chOff x="0" y="0"/>
          <a:chExt cx="0" cy="0"/>
        </a:xfrm>
      </p:grpSpPr>
      <p:grpSp>
        <p:nvGrpSpPr>
          <p:cNvPr id="125" name="Google Shape;125;p25"/>
          <p:cNvGrpSpPr/>
          <p:nvPr/>
        </p:nvGrpSpPr>
        <p:grpSpPr>
          <a:xfrm>
            <a:off x="5955350" y="1016944"/>
            <a:ext cx="2757402" cy="1785937"/>
            <a:chOff x="5955350" y="1016944"/>
            <a:chExt cx="2757402" cy="1785937"/>
          </a:xfrm>
        </p:grpSpPr>
        <p:pic>
          <p:nvPicPr>
            <p:cNvPr id="126" name="Google Shape;126;p25"/>
            <p:cNvPicPr preferRelativeResize="0"/>
            <p:nvPr/>
          </p:nvPicPr>
          <p:blipFill rotWithShape="1">
            <a:blip r:embed="rId3">
              <a:alphaModFix/>
            </a:blip>
            <a:srcRect b="0" l="0" r="0" t="0"/>
            <a:stretch/>
          </p:blipFill>
          <p:spPr>
            <a:xfrm>
              <a:off x="6571300" y="1016944"/>
              <a:ext cx="2141452" cy="1785937"/>
            </a:xfrm>
            <a:prstGeom prst="rect">
              <a:avLst/>
            </a:prstGeom>
            <a:noFill/>
            <a:ln>
              <a:noFill/>
            </a:ln>
          </p:spPr>
        </p:pic>
        <p:pic>
          <p:nvPicPr>
            <p:cNvPr id="127" name="Google Shape;127;p25"/>
            <p:cNvPicPr preferRelativeResize="0"/>
            <p:nvPr/>
          </p:nvPicPr>
          <p:blipFill rotWithShape="1">
            <a:blip r:embed="rId3">
              <a:alphaModFix/>
            </a:blip>
            <a:srcRect b="0" l="0" r="0" t="0"/>
            <a:stretch/>
          </p:blipFill>
          <p:spPr>
            <a:xfrm>
              <a:off x="5955350" y="1016944"/>
              <a:ext cx="2141452" cy="1785937"/>
            </a:xfrm>
            <a:prstGeom prst="rect">
              <a:avLst/>
            </a:prstGeom>
            <a:noFill/>
            <a:ln>
              <a:noFill/>
            </a:ln>
          </p:spPr>
        </p:pic>
      </p:grpSp>
      <p:sp>
        <p:nvSpPr>
          <p:cNvPr id="128" name="Google Shape;128;p25"/>
          <p:cNvSpPr txBox="1"/>
          <p:nvPr>
            <p:ph type="title"/>
          </p:nvPr>
        </p:nvSpPr>
        <p:spPr>
          <a:xfrm>
            <a:off x="384725" y="638926"/>
            <a:ext cx="360108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Version control issue 2</a:t>
            </a:r>
            <a:endParaRPr/>
          </a:p>
        </p:txBody>
      </p:sp>
      <p:sp>
        <p:nvSpPr>
          <p:cNvPr id="129" name="Google Shape;129;p25"/>
          <p:cNvSpPr txBox="1"/>
          <p:nvPr/>
        </p:nvSpPr>
        <p:spPr>
          <a:xfrm>
            <a:off x="528773" y="1169620"/>
            <a:ext cx="7781290" cy="3315970"/>
          </a:xfrm>
          <a:prstGeom prst="rect">
            <a:avLst/>
          </a:prstGeom>
          <a:noFill/>
          <a:ln>
            <a:noFill/>
          </a:ln>
        </p:spPr>
        <p:txBody>
          <a:bodyPr anchorCtr="0" anchor="t" bIns="0" lIns="0" spcFirstLastPara="1" rIns="0" wrap="square" tIns="12700">
            <a:spAutoFit/>
          </a:bodyPr>
          <a:lstStyle/>
          <a:p>
            <a:pPr indent="-313690" lvl="0" marL="325755" marR="256794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The next major issue that people encounter  is that they need to collaborate with  developers on other systems. To deal with  this problem, Centralized Version Control  Systems (CVCSs) were developed.</a:t>
            </a:r>
            <a:endParaRPr sz="2000">
              <a:latin typeface="Arial"/>
              <a:ea typeface="Arial"/>
              <a:cs typeface="Arial"/>
              <a:sym typeface="Arial"/>
            </a:endParaRPr>
          </a:p>
          <a:p>
            <a:pPr indent="-313690" lvl="0" marL="325755" marR="5080" rtl="0" algn="l">
              <a:lnSpc>
                <a:spcPct val="114999"/>
              </a:lnSpc>
              <a:spcBef>
                <a:spcPts val="1065"/>
              </a:spcBef>
              <a:spcAft>
                <a:spcPts val="0"/>
              </a:spcAft>
              <a:buClr>
                <a:srgbClr val="000000"/>
              </a:buClr>
              <a:buSzPts val="2000"/>
              <a:buFont typeface="Arial"/>
              <a:buChar char="-"/>
            </a:pPr>
            <a:r>
              <a:rPr lang="en" sz="2000">
                <a:solidFill>
                  <a:srgbClr val="4E443C"/>
                </a:solidFill>
                <a:latin typeface="Arial"/>
                <a:ea typeface="Arial"/>
                <a:cs typeface="Arial"/>
                <a:sym typeface="Arial"/>
              </a:rPr>
              <a:t>These systems (such as CVS, Subversion, and Perforce) have a  single server that contains all the versioned files, and a number of  clients that check out files from that central place. For many years,  this has been the standard for version control.</a:t>
            </a:r>
            <a:endParaRPr sz="20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84725" y="638926"/>
            <a:ext cx="423354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Centralized version control</a:t>
            </a:r>
            <a:endParaRPr/>
          </a:p>
        </p:txBody>
      </p:sp>
      <p:sp>
        <p:nvSpPr>
          <p:cNvPr id="135" name="Google Shape;135;p26"/>
          <p:cNvSpPr txBox="1"/>
          <p:nvPr/>
        </p:nvSpPr>
        <p:spPr>
          <a:xfrm>
            <a:off x="4893152" y="1345040"/>
            <a:ext cx="3830954" cy="3587115"/>
          </a:xfrm>
          <a:prstGeom prst="rect">
            <a:avLst/>
          </a:prstGeom>
          <a:noFill/>
          <a:ln>
            <a:noFill/>
          </a:ln>
        </p:spPr>
        <p:txBody>
          <a:bodyPr anchorCtr="0" anchor="t" bIns="0" lIns="0" spcFirstLastPara="1" rIns="0" wrap="square" tIns="38725">
            <a:spAutoFit/>
          </a:bodyPr>
          <a:lstStyle/>
          <a:p>
            <a:pPr indent="-313690" lvl="0" marL="325755" marR="0" rtl="0" algn="l">
              <a:lnSpc>
                <a:spcPct val="100000"/>
              </a:lnSpc>
              <a:spcBef>
                <a:spcPts val="0"/>
              </a:spcBef>
              <a:spcAft>
                <a:spcPts val="0"/>
              </a:spcAft>
              <a:buClr>
                <a:srgbClr val="000000"/>
              </a:buClr>
              <a:buSzPts val="2000"/>
              <a:buFont typeface="Arial"/>
              <a:buChar char="-"/>
            </a:pPr>
            <a:r>
              <a:rPr lang="en" sz="1800">
                <a:solidFill>
                  <a:srgbClr val="4E443C"/>
                </a:solidFill>
                <a:latin typeface="Arial"/>
                <a:ea typeface="Arial"/>
                <a:cs typeface="Arial"/>
                <a:sym typeface="Arial"/>
              </a:rPr>
              <a:t>This setup offers many</a:t>
            </a:r>
            <a:endParaRPr sz="1800">
              <a:latin typeface="Arial"/>
              <a:ea typeface="Arial"/>
              <a:cs typeface="Arial"/>
              <a:sym typeface="Arial"/>
            </a:endParaRPr>
          </a:p>
          <a:p>
            <a:pPr indent="0" lvl="0" marL="325755" marR="144780" rtl="0" algn="l">
              <a:lnSpc>
                <a:spcPct val="114999"/>
              </a:lnSpc>
              <a:spcBef>
                <a:spcPts val="45"/>
              </a:spcBef>
              <a:spcAft>
                <a:spcPts val="0"/>
              </a:spcAft>
              <a:buNone/>
            </a:pPr>
            <a:r>
              <a:rPr lang="en" sz="1800">
                <a:solidFill>
                  <a:srgbClr val="4E443C"/>
                </a:solidFill>
                <a:latin typeface="Arial"/>
                <a:ea typeface="Arial"/>
                <a:cs typeface="Arial"/>
                <a:sym typeface="Arial"/>
              </a:rPr>
              <a:t>advantages, especially over local  VCSs.</a:t>
            </a:r>
            <a:endParaRPr sz="1800">
              <a:latin typeface="Arial"/>
              <a:ea typeface="Arial"/>
              <a:cs typeface="Arial"/>
              <a:sym typeface="Arial"/>
            </a:endParaRPr>
          </a:p>
          <a:p>
            <a:pPr indent="-313690" lvl="0" marL="325755" marR="0" rtl="0" algn="l">
              <a:lnSpc>
                <a:spcPct val="100000"/>
              </a:lnSpc>
              <a:spcBef>
                <a:spcPts val="315"/>
              </a:spcBef>
              <a:spcAft>
                <a:spcPts val="0"/>
              </a:spcAft>
              <a:buClr>
                <a:srgbClr val="000000"/>
              </a:buClr>
              <a:buSzPts val="2000"/>
              <a:buFont typeface="Arial"/>
              <a:buChar char="-"/>
            </a:pPr>
            <a:r>
              <a:rPr lang="en" sz="1800">
                <a:solidFill>
                  <a:srgbClr val="4E443C"/>
                </a:solidFill>
                <a:latin typeface="Arial"/>
                <a:ea typeface="Arial"/>
                <a:cs typeface="Arial"/>
                <a:sym typeface="Arial"/>
              </a:rPr>
              <a:t>For example, everyone knows to a</a:t>
            </a:r>
            <a:endParaRPr sz="1800">
              <a:latin typeface="Arial"/>
              <a:ea typeface="Arial"/>
              <a:cs typeface="Arial"/>
              <a:sym typeface="Arial"/>
            </a:endParaRPr>
          </a:p>
          <a:p>
            <a:pPr indent="0" lvl="0" marL="325755" marR="5080" rtl="0" algn="l">
              <a:lnSpc>
                <a:spcPct val="114999"/>
              </a:lnSpc>
              <a:spcBef>
                <a:spcPts val="45"/>
              </a:spcBef>
              <a:spcAft>
                <a:spcPts val="0"/>
              </a:spcAft>
              <a:buNone/>
            </a:pPr>
            <a:r>
              <a:rPr lang="en" sz="1800">
                <a:solidFill>
                  <a:srgbClr val="4E443C"/>
                </a:solidFill>
                <a:latin typeface="Arial"/>
                <a:ea typeface="Arial"/>
                <a:cs typeface="Arial"/>
                <a:sym typeface="Arial"/>
              </a:rPr>
              <a:t>certain degree what everyone else  on the project is doing.</a:t>
            </a:r>
            <a:endParaRPr sz="1800">
              <a:latin typeface="Arial"/>
              <a:ea typeface="Arial"/>
              <a:cs typeface="Arial"/>
              <a:sym typeface="Arial"/>
            </a:endParaRPr>
          </a:p>
          <a:p>
            <a:pPr indent="-313690" lvl="0" marL="325755" marR="0" rtl="0" algn="l">
              <a:lnSpc>
                <a:spcPct val="100000"/>
              </a:lnSpc>
              <a:spcBef>
                <a:spcPts val="315"/>
              </a:spcBef>
              <a:spcAft>
                <a:spcPts val="0"/>
              </a:spcAft>
              <a:buClr>
                <a:srgbClr val="000000"/>
              </a:buClr>
              <a:buSzPts val="2000"/>
              <a:buFont typeface="Arial"/>
              <a:buChar char="-"/>
            </a:pPr>
            <a:r>
              <a:rPr lang="en" sz="1800">
                <a:solidFill>
                  <a:srgbClr val="4E443C"/>
                </a:solidFill>
                <a:latin typeface="Arial"/>
                <a:ea typeface="Arial"/>
                <a:cs typeface="Arial"/>
                <a:sym typeface="Arial"/>
              </a:rPr>
              <a:t>Administrators have fine-grained</a:t>
            </a:r>
            <a:endParaRPr sz="1800">
              <a:latin typeface="Arial"/>
              <a:ea typeface="Arial"/>
              <a:cs typeface="Arial"/>
              <a:sym typeface="Arial"/>
            </a:endParaRPr>
          </a:p>
          <a:p>
            <a:pPr indent="0" lvl="0" marL="325755" marR="17780" rtl="0" algn="l">
              <a:lnSpc>
                <a:spcPct val="114999"/>
              </a:lnSpc>
              <a:spcBef>
                <a:spcPts val="45"/>
              </a:spcBef>
              <a:spcAft>
                <a:spcPts val="0"/>
              </a:spcAft>
              <a:buNone/>
            </a:pPr>
            <a:r>
              <a:rPr lang="en" sz="1800">
                <a:solidFill>
                  <a:srgbClr val="4E443C"/>
                </a:solidFill>
                <a:latin typeface="Arial"/>
                <a:ea typeface="Arial"/>
                <a:cs typeface="Arial"/>
                <a:sym typeface="Arial"/>
              </a:rPr>
              <a:t>control over who can do what, and  it’s far easier to administer a  CVCS than it is to deal with local  databases on every client.</a:t>
            </a:r>
            <a:endParaRPr sz="1800">
              <a:latin typeface="Arial"/>
              <a:ea typeface="Arial"/>
              <a:cs typeface="Arial"/>
              <a:sym typeface="Arial"/>
            </a:endParaRPr>
          </a:p>
        </p:txBody>
      </p:sp>
      <p:pic>
        <p:nvPicPr>
          <p:cNvPr id="136" name="Google Shape;136;p26"/>
          <p:cNvPicPr preferRelativeResize="0"/>
          <p:nvPr/>
        </p:nvPicPr>
        <p:blipFill rotWithShape="1">
          <a:blip r:embed="rId3">
            <a:alphaModFix/>
          </a:blip>
          <a:srcRect b="0" l="0" r="0" t="0"/>
          <a:stretch/>
        </p:blipFill>
        <p:spPr>
          <a:xfrm>
            <a:off x="438057" y="1519639"/>
            <a:ext cx="4133942" cy="287301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84725" y="638926"/>
            <a:ext cx="262699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CVC’s downside</a:t>
            </a:r>
            <a:endParaRPr/>
          </a:p>
        </p:txBody>
      </p:sp>
      <p:sp>
        <p:nvSpPr>
          <p:cNvPr id="142" name="Google Shape;142;p27"/>
          <p:cNvSpPr txBox="1"/>
          <p:nvPr/>
        </p:nvSpPr>
        <p:spPr>
          <a:xfrm>
            <a:off x="537048" y="1149845"/>
            <a:ext cx="7930500" cy="3574800"/>
          </a:xfrm>
          <a:prstGeom prst="rect">
            <a:avLst/>
          </a:prstGeom>
          <a:noFill/>
          <a:ln>
            <a:noFill/>
          </a:ln>
        </p:spPr>
        <p:txBody>
          <a:bodyPr anchorCtr="0" anchor="t" bIns="0" lIns="0" spcFirstLastPara="1" rIns="0" wrap="square" tIns="12700">
            <a:spAutoFit/>
          </a:bodyPr>
          <a:lstStyle/>
          <a:p>
            <a:pPr indent="-313690" lvl="0" marL="325755" marR="2830195"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The most obvious is the single point of  failure that the centralized server  represents. If that server goes down for an  hour, then during that hour nobody can  collaborate at all or save versioned  changes to anything they’re working on.</a:t>
            </a:r>
            <a:endParaRPr sz="2000">
              <a:latin typeface="Arial"/>
              <a:ea typeface="Arial"/>
              <a:cs typeface="Arial"/>
              <a:sym typeface="Arial"/>
            </a:endParaRPr>
          </a:p>
          <a:p>
            <a:pPr indent="-313690" lvl="0" marL="325755" marR="5080" rtl="0" algn="l">
              <a:lnSpc>
                <a:spcPct val="114999"/>
              </a:lnSpc>
              <a:spcBef>
                <a:spcPts val="530"/>
              </a:spcBef>
              <a:spcAft>
                <a:spcPts val="0"/>
              </a:spcAft>
              <a:buClr>
                <a:srgbClr val="000000"/>
              </a:buClr>
              <a:buSzPts val="2000"/>
              <a:buFont typeface="Arial"/>
              <a:buChar char="-"/>
            </a:pPr>
            <a:r>
              <a:rPr lang="en" sz="2000">
                <a:solidFill>
                  <a:srgbClr val="4E443C"/>
                </a:solidFill>
                <a:latin typeface="Arial"/>
                <a:ea typeface="Arial"/>
                <a:cs typeface="Arial"/>
                <a:sym typeface="Arial"/>
              </a:rPr>
              <a:t>If the hard disk the central database is on becomes corrupted, and  proper backups haven’t been kept, you lose absolutely  everything — the entire history of the project except whatever single  snapshots people happen to have on their local machines.</a:t>
            </a:r>
            <a:endParaRPr sz="2000">
              <a:latin typeface="Arial"/>
              <a:ea typeface="Arial"/>
              <a:cs typeface="Arial"/>
              <a:sym typeface="Arial"/>
            </a:endParaRPr>
          </a:p>
        </p:txBody>
      </p:sp>
      <p:pic>
        <p:nvPicPr>
          <p:cNvPr id="143" name="Google Shape;143;p27"/>
          <p:cNvPicPr preferRelativeResize="0"/>
          <p:nvPr/>
        </p:nvPicPr>
        <p:blipFill rotWithShape="1">
          <a:blip r:embed="rId3">
            <a:alphaModFix/>
          </a:blip>
          <a:srcRect b="0" l="0" r="0" t="0"/>
          <a:stretch/>
        </p:blipFill>
        <p:spPr>
          <a:xfrm>
            <a:off x="6025650" y="1276657"/>
            <a:ext cx="2125659" cy="19928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pic>
        <p:nvPicPr>
          <p:cNvPr id="148" name="Google Shape;148;p28"/>
          <p:cNvPicPr preferRelativeResize="0"/>
          <p:nvPr/>
        </p:nvPicPr>
        <p:blipFill rotWithShape="1">
          <a:blip r:embed="rId3">
            <a:alphaModFix/>
          </a:blip>
          <a:srcRect b="0" l="0" r="0" t="0"/>
          <a:stretch/>
        </p:blipFill>
        <p:spPr>
          <a:xfrm>
            <a:off x="3994951" y="2216688"/>
            <a:ext cx="1154095" cy="962543"/>
          </a:xfrm>
          <a:prstGeom prst="rect">
            <a:avLst/>
          </a:prstGeom>
          <a:noFill/>
          <a:ln>
            <a:noFill/>
          </a:ln>
        </p:spPr>
      </p:pic>
      <p:sp>
        <p:nvSpPr>
          <p:cNvPr id="149" name="Google Shape;149;p28"/>
          <p:cNvSpPr txBox="1"/>
          <p:nvPr>
            <p:ph type="title"/>
          </p:nvPr>
        </p:nvSpPr>
        <p:spPr>
          <a:xfrm>
            <a:off x="384725" y="638926"/>
            <a:ext cx="328295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CVC vs. Local VCSs</a:t>
            </a:r>
            <a:endParaRPr/>
          </a:p>
        </p:txBody>
      </p:sp>
      <p:sp>
        <p:nvSpPr>
          <p:cNvPr id="150" name="Google Shape;150;p28"/>
          <p:cNvSpPr txBox="1"/>
          <p:nvPr/>
        </p:nvSpPr>
        <p:spPr>
          <a:xfrm>
            <a:off x="2804157" y="3066552"/>
            <a:ext cx="3270885" cy="1649730"/>
          </a:xfrm>
          <a:prstGeom prst="rect">
            <a:avLst/>
          </a:prstGeom>
          <a:noFill/>
          <a:ln>
            <a:noFill/>
          </a:ln>
        </p:spPr>
        <p:txBody>
          <a:bodyPr anchorCtr="0" anchor="t" bIns="0" lIns="0" spcFirstLastPara="1" rIns="0" wrap="square" tIns="18400">
            <a:spAutoFit/>
          </a:bodyPr>
          <a:lstStyle/>
          <a:p>
            <a:pPr indent="-313690" lvl="0" marL="325755" marR="5080" rtl="0" algn="l">
              <a:lnSpc>
                <a:spcPct val="115100"/>
              </a:lnSpc>
              <a:spcBef>
                <a:spcPts val="0"/>
              </a:spcBef>
              <a:spcAft>
                <a:spcPts val="0"/>
              </a:spcAft>
              <a:buNone/>
            </a:pPr>
            <a:r>
              <a:rPr lang="en" sz="2000">
                <a:latin typeface="Arial"/>
                <a:ea typeface="Arial"/>
                <a:cs typeface="Arial"/>
                <a:sym typeface="Arial"/>
              </a:rPr>
              <a:t>-	</a:t>
            </a:r>
            <a:r>
              <a:rPr lang="en" sz="1800">
                <a:solidFill>
                  <a:srgbClr val="4E443C"/>
                </a:solidFill>
                <a:latin typeface="Arial"/>
                <a:ea typeface="Arial"/>
                <a:cs typeface="Arial"/>
                <a:sym typeface="Arial"/>
              </a:rPr>
              <a:t>Local VCSs suffer from this  same problem — whenever  you have the entire history of  the project in a single place,  you risk losing everything.</a:t>
            </a:r>
            <a:endParaRPr sz="1800">
              <a:latin typeface="Arial"/>
              <a:ea typeface="Arial"/>
              <a:cs typeface="Arial"/>
              <a:sym typeface="Arial"/>
            </a:endParaRPr>
          </a:p>
        </p:txBody>
      </p:sp>
      <p:grpSp>
        <p:nvGrpSpPr>
          <p:cNvPr id="151" name="Google Shape;151;p28"/>
          <p:cNvGrpSpPr/>
          <p:nvPr/>
        </p:nvGrpSpPr>
        <p:grpSpPr>
          <a:xfrm>
            <a:off x="1397062" y="1314028"/>
            <a:ext cx="5888348" cy="1743313"/>
            <a:chOff x="1397062" y="1314028"/>
            <a:chExt cx="5888348" cy="1743313"/>
          </a:xfrm>
        </p:grpSpPr>
        <p:pic>
          <p:nvPicPr>
            <p:cNvPr id="152" name="Google Shape;152;p28"/>
            <p:cNvPicPr preferRelativeResize="0"/>
            <p:nvPr/>
          </p:nvPicPr>
          <p:blipFill rotWithShape="1">
            <a:blip r:embed="rId4">
              <a:alphaModFix/>
            </a:blip>
            <a:srcRect b="0" l="0" r="0" t="0"/>
            <a:stretch/>
          </p:blipFill>
          <p:spPr>
            <a:xfrm>
              <a:off x="1397062" y="1315754"/>
              <a:ext cx="2503465" cy="1739860"/>
            </a:xfrm>
            <a:prstGeom prst="rect">
              <a:avLst/>
            </a:prstGeom>
            <a:noFill/>
            <a:ln>
              <a:noFill/>
            </a:ln>
          </p:spPr>
        </p:pic>
        <p:pic>
          <p:nvPicPr>
            <p:cNvPr id="153" name="Google Shape;153;p28"/>
            <p:cNvPicPr preferRelativeResize="0"/>
            <p:nvPr/>
          </p:nvPicPr>
          <p:blipFill rotWithShape="1">
            <a:blip r:embed="rId5">
              <a:alphaModFix/>
            </a:blip>
            <a:srcRect b="0" l="0" r="0" t="0"/>
            <a:stretch/>
          </p:blipFill>
          <p:spPr>
            <a:xfrm>
              <a:off x="5243473" y="1314028"/>
              <a:ext cx="2041937" cy="1743313"/>
            </a:xfrm>
            <a:prstGeom prst="rect">
              <a:avLst/>
            </a:prstGeom>
            <a:noFill/>
            <a:ln>
              <a:noFill/>
            </a:ln>
          </p:spPr>
        </p:pic>
        <p:pic>
          <p:nvPicPr>
            <p:cNvPr id="154" name="Google Shape;154;p28"/>
            <p:cNvPicPr preferRelativeResize="0"/>
            <p:nvPr/>
          </p:nvPicPr>
          <p:blipFill rotWithShape="1">
            <a:blip r:embed="rId6">
              <a:alphaModFix/>
            </a:blip>
            <a:srcRect b="0" l="0" r="0" t="0"/>
            <a:stretch/>
          </p:blipFill>
          <p:spPr>
            <a:xfrm>
              <a:off x="3781371" y="1474355"/>
              <a:ext cx="1581259" cy="1581259"/>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84725" y="638926"/>
            <a:ext cx="130810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Solution</a:t>
            </a:r>
            <a:endParaRPr/>
          </a:p>
        </p:txBody>
      </p:sp>
      <p:pic>
        <p:nvPicPr>
          <p:cNvPr id="160" name="Google Shape;160;p29"/>
          <p:cNvPicPr preferRelativeResize="0"/>
          <p:nvPr/>
        </p:nvPicPr>
        <p:blipFill rotWithShape="1">
          <a:blip r:embed="rId3">
            <a:alphaModFix/>
          </a:blip>
          <a:srcRect b="0" l="0" r="0" t="0"/>
          <a:stretch/>
        </p:blipFill>
        <p:spPr>
          <a:xfrm>
            <a:off x="5330282" y="796890"/>
            <a:ext cx="3813717" cy="4286249"/>
          </a:xfrm>
          <a:prstGeom prst="rect">
            <a:avLst/>
          </a:prstGeom>
          <a:noFill/>
          <a:ln>
            <a:noFill/>
          </a:ln>
        </p:spPr>
      </p:pic>
      <p:sp>
        <p:nvSpPr>
          <p:cNvPr id="161" name="Google Shape;161;p29"/>
          <p:cNvSpPr txBox="1"/>
          <p:nvPr/>
        </p:nvSpPr>
        <p:spPr>
          <a:xfrm>
            <a:off x="393287" y="1336329"/>
            <a:ext cx="5340985" cy="3495675"/>
          </a:xfrm>
          <a:prstGeom prst="rect">
            <a:avLst/>
          </a:prstGeom>
          <a:noFill/>
          <a:ln>
            <a:noFill/>
          </a:ln>
        </p:spPr>
        <p:txBody>
          <a:bodyPr anchorCtr="0" anchor="t" bIns="0" lIns="0" spcFirstLastPara="1" rIns="0" wrap="square" tIns="12700">
            <a:spAutoFit/>
          </a:bodyPr>
          <a:lstStyle/>
          <a:p>
            <a:pPr indent="-367030" lvl="0" marL="379095" marR="829310" rtl="0" algn="l">
              <a:lnSpc>
                <a:spcPct val="114999"/>
              </a:lnSpc>
              <a:spcBef>
                <a:spcPts val="0"/>
              </a:spcBef>
              <a:spcAft>
                <a:spcPts val="0"/>
              </a:spcAft>
              <a:buClr>
                <a:srgbClr val="595959"/>
              </a:buClr>
              <a:buSzPts val="1800"/>
              <a:buFont typeface="Arial"/>
              <a:buChar char="●"/>
            </a:pPr>
            <a:r>
              <a:rPr lang="en" sz="1800">
                <a:solidFill>
                  <a:srgbClr val="4E443C"/>
                </a:solidFill>
                <a:latin typeface="Arial"/>
                <a:ea typeface="Arial"/>
                <a:cs typeface="Arial"/>
                <a:sym typeface="Arial"/>
              </a:rPr>
              <a:t>This is where Distributed Version Control  Systems (DVCSs) step in.</a:t>
            </a:r>
            <a:endParaRPr sz="1800">
              <a:latin typeface="Arial"/>
              <a:ea typeface="Arial"/>
              <a:cs typeface="Arial"/>
              <a:sym typeface="Arial"/>
            </a:endParaRPr>
          </a:p>
          <a:p>
            <a:pPr indent="-367030" lvl="0" marL="379095" marR="147955" rtl="0" algn="l">
              <a:lnSpc>
                <a:spcPct val="114999"/>
              </a:lnSpc>
              <a:spcBef>
                <a:spcPts val="0"/>
              </a:spcBef>
              <a:spcAft>
                <a:spcPts val="0"/>
              </a:spcAft>
              <a:buClr>
                <a:srgbClr val="595959"/>
              </a:buClr>
              <a:buSzPts val="1800"/>
              <a:buFont typeface="Arial"/>
              <a:buChar char="●"/>
            </a:pPr>
            <a:r>
              <a:rPr lang="en" sz="1800">
                <a:solidFill>
                  <a:srgbClr val="4E443C"/>
                </a:solidFill>
                <a:latin typeface="Arial"/>
                <a:ea typeface="Arial"/>
                <a:cs typeface="Arial"/>
                <a:sym typeface="Arial"/>
              </a:rPr>
              <a:t>In a DVCS (such as </a:t>
            </a:r>
            <a:r>
              <a:rPr b="1" lang="en" sz="1800">
                <a:solidFill>
                  <a:srgbClr val="FF0000"/>
                </a:solidFill>
                <a:latin typeface="Arial"/>
                <a:ea typeface="Arial"/>
                <a:cs typeface="Arial"/>
                <a:sym typeface="Arial"/>
              </a:rPr>
              <a:t>Git</a:t>
            </a:r>
            <a:r>
              <a:rPr lang="en" sz="1800">
                <a:solidFill>
                  <a:srgbClr val="4E443C"/>
                </a:solidFill>
                <a:latin typeface="Arial"/>
                <a:ea typeface="Arial"/>
                <a:cs typeface="Arial"/>
                <a:sym typeface="Arial"/>
              </a:rPr>
              <a:t>, Mercurial, Bazaar or  Darcs), clients don’t just check out the latest  snapshot of the files; rather, they fully mirror the  repository, including its full history.</a:t>
            </a:r>
            <a:endParaRPr sz="1800">
              <a:latin typeface="Arial"/>
              <a:ea typeface="Arial"/>
              <a:cs typeface="Arial"/>
              <a:sym typeface="Arial"/>
            </a:endParaRPr>
          </a:p>
          <a:p>
            <a:pPr indent="-367030" lvl="0" marL="379095" marR="5080" rtl="0" algn="l">
              <a:lnSpc>
                <a:spcPct val="114999"/>
              </a:lnSpc>
              <a:spcBef>
                <a:spcPts val="0"/>
              </a:spcBef>
              <a:spcAft>
                <a:spcPts val="0"/>
              </a:spcAft>
              <a:buClr>
                <a:srgbClr val="595959"/>
              </a:buClr>
              <a:buSzPts val="1800"/>
              <a:buFont typeface="Arial"/>
              <a:buChar char="●"/>
            </a:pPr>
            <a:r>
              <a:rPr lang="en" sz="1800">
                <a:solidFill>
                  <a:srgbClr val="4E443C"/>
                </a:solidFill>
                <a:latin typeface="Arial"/>
                <a:ea typeface="Arial"/>
                <a:cs typeface="Arial"/>
                <a:sym typeface="Arial"/>
              </a:rPr>
              <a:t>Thus, if any server dies, and these systems were  collaborating via that server, any of the client  repositories can be copied back up to the server  to restore it.</a:t>
            </a:r>
            <a:endParaRPr sz="1800">
              <a:latin typeface="Arial"/>
              <a:ea typeface="Arial"/>
              <a:cs typeface="Arial"/>
              <a:sym typeface="Arial"/>
            </a:endParaRPr>
          </a:p>
          <a:p>
            <a:pPr indent="-367030" lvl="0" marL="379095" marR="0" rtl="0" algn="l">
              <a:lnSpc>
                <a:spcPct val="100000"/>
              </a:lnSpc>
              <a:spcBef>
                <a:spcPts val="320"/>
              </a:spcBef>
              <a:spcAft>
                <a:spcPts val="0"/>
              </a:spcAft>
              <a:buClr>
                <a:srgbClr val="595959"/>
              </a:buClr>
              <a:buSzPts val="1800"/>
              <a:buFont typeface="Arial"/>
              <a:buChar char="●"/>
            </a:pPr>
            <a:r>
              <a:rPr lang="en" sz="1800">
                <a:solidFill>
                  <a:srgbClr val="4E443C"/>
                </a:solidFill>
                <a:latin typeface="Arial"/>
                <a:ea typeface="Arial"/>
                <a:cs typeface="Arial"/>
                <a:sym typeface="Arial"/>
              </a:rPr>
              <a:t>Every clone is really a full backup of all the data.</a:t>
            </a:r>
            <a:endParaRPr sz="18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84725" y="638926"/>
            <a:ext cx="413448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Distributed version control</a:t>
            </a:r>
            <a:endParaRPr/>
          </a:p>
        </p:txBody>
      </p:sp>
      <p:sp>
        <p:nvSpPr>
          <p:cNvPr id="167" name="Google Shape;167;p30"/>
          <p:cNvSpPr txBox="1"/>
          <p:nvPr/>
        </p:nvSpPr>
        <p:spPr>
          <a:xfrm>
            <a:off x="3849289" y="1277786"/>
            <a:ext cx="4953000" cy="3530600"/>
          </a:xfrm>
          <a:prstGeom prst="rect">
            <a:avLst/>
          </a:prstGeom>
          <a:noFill/>
          <a:ln>
            <a:noFill/>
          </a:ln>
        </p:spPr>
        <p:txBody>
          <a:bodyPr anchorCtr="0" anchor="t" bIns="0" lIns="0" spcFirstLastPara="1" rIns="0" wrap="square" tIns="12700">
            <a:spAutoFit/>
          </a:bodyPr>
          <a:lstStyle/>
          <a:p>
            <a:pPr indent="-313690" lvl="0" marL="325755" marR="20320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Furthermore, many of these systems  deal pretty well with having several  remote repositories they can work with,  so you can collaborate with different  groups of people in different ways  simultaneously within the same project.</a:t>
            </a:r>
            <a:endParaRPr sz="2000">
              <a:latin typeface="Arial"/>
              <a:ea typeface="Arial"/>
              <a:cs typeface="Arial"/>
              <a:sym typeface="Arial"/>
            </a:endParaRPr>
          </a:p>
          <a:p>
            <a:pPr indent="-313690" lvl="0" marL="325755" marR="508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This allows you to set up several types  of workflows that aren’t possible in  centralized systems, such as hierarchical  models.</a:t>
            </a:r>
            <a:endParaRPr sz="2000">
              <a:latin typeface="Arial"/>
              <a:ea typeface="Arial"/>
              <a:cs typeface="Arial"/>
              <a:sym typeface="Arial"/>
            </a:endParaRPr>
          </a:p>
        </p:txBody>
      </p:sp>
      <p:pic>
        <p:nvPicPr>
          <p:cNvPr id="168" name="Google Shape;168;p30"/>
          <p:cNvPicPr preferRelativeResize="0"/>
          <p:nvPr/>
        </p:nvPicPr>
        <p:blipFill rotWithShape="1">
          <a:blip r:embed="rId3">
            <a:alphaModFix/>
          </a:blip>
          <a:srcRect b="0" l="0" r="0" t="0"/>
          <a:stretch/>
        </p:blipFill>
        <p:spPr>
          <a:xfrm>
            <a:off x="442938" y="1260642"/>
            <a:ext cx="3114933" cy="37310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84725" y="638926"/>
            <a:ext cx="450532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So, what is Git in a nutshell?</a:t>
            </a:r>
            <a:endParaRPr/>
          </a:p>
        </p:txBody>
      </p:sp>
      <p:sp>
        <p:nvSpPr>
          <p:cNvPr id="174" name="Google Shape;174;p31"/>
          <p:cNvSpPr txBox="1"/>
          <p:nvPr/>
        </p:nvSpPr>
        <p:spPr>
          <a:xfrm>
            <a:off x="528774" y="1169620"/>
            <a:ext cx="8010525" cy="3530600"/>
          </a:xfrm>
          <a:prstGeom prst="rect">
            <a:avLst/>
          </a:prstGeom>
          <a:noFill/>
          <a:ln>
            <a:noFill/>
          </a:ln>
        </p:spPr>
        <p:txBody>
          <a:bodyPr anchorCtr="0" anchor="t" bIns="0" lIns="0" spcFirstLastPara="1" rIns="0" wrap="square" tIns="12700">
            <a:spAutoFit/>
          </a:bodyPr>
          <a:lstStyle/>
          <a:p>
            <a:pPr indent="-313690" lvl="0" marL="325755" marR="342265"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This is an important section to absorb, because if you understand  what Git is and the fundamentals of how it works, then using Git  effectively will probably be much easier for you.</a:t>
            </a:r>
            <a:endParaRPr sz="2000">
              <a:latin typeface="Arial"/>
              <a:ea typeface="Arial"/>
              <a:cs typeface="Arial"/>
              <a:sym typeface="Arial"/>
            </a:endParaRPr>
          </a:p>
          <a:p>
            <a:pPr indent="-313690" lvl="0" marL="325755" marR="26669"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As you learn Git, try to clear your mind of the things you may know  about other VCSs, such as CVS, Subversion or Perforce — doing so  will help you avoid subtle confusion when using the tool.</a:t>
            </a:r>
            <a:endParaRPr sz="2000">
              <a:latin typeface="Arial"/>
              <a:ea typeface="Arial"/>
              <a:cs typeface="Arial"/>
              <a:sym typeface="Arial"/>
            </a:endParaRPr>
          </a:p>
          <a:p>
            <a:pPr indent="-313690" lvl="0" marL="325755" marR="508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Even though Git’s user interface is fairly similar to these other VCSs,  Git stores and thinks about information in a very different way, and  understanding these differences will help you avoid becoming  confused while using it.</a:t>
            </a:r>
            <a:endParaRPr sz="2000">
              <a:latin typeface="Arial"/>
              <a:ea typeface="Arial"/>
              <a:cs typeface="Arial"/>
              <a:sym typeface="Arial"/>
            </a:endParaRPr>
          </a:p>
        </p:txBody>
      </p:sp>
      <p:pic>
        <p:nvPicPr>
          <p:cNvPr id="175" name="Google Shape;175;p31"/>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84725" y="638926"/>
            <a:ext cx="433768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Snapshots, Not Differences</a:t>
            </a:r>
            <a:endParaRPr/>
          </a:p>
        </p:txBody>
      </p:sp>
      <p:sp>
        <p:nvSpPr>
          <p:cNvPr id="181" name="Google Shape;181;p32"/>
          <p:cNvSpPr txBox="1"/>
          <p:nvPr/>
        </p:nvSpPr>
        <p:spPr>
          <a:xfrm>
            <a:off x="528774" y="1169620"/>
            <a:ext cx="8215630" cy="2888615"/>
          </a:xfrm>
          <a:prstGeom prst="rect">
            <a:avLst/>
          </a:prstGeom>
          <a:noFill/>
          <a:ln>
            <a:noFill/>
          </a:ln>
        </p:spPr>
        <p:txBody>
          <a:bodyPr anchorCtr="0" anchor="t" bIns="0" lIns="0" spcFirstLastPara="1" rIns="0" wrap="square" tIns="12700">
            <a:spAutoFit/>
          </a:bodyPr>
          <a:lstStyle/>
          <a:p>
            <a:pPr indent="-313690" lvl="0" marL="325755" marR="508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The major difference between Git and any other VCS (Subversion and  friends included) is the way Git thinks about its data.</a:t>
            </a:r>
            <a:endParaRPr sz="2000">
              <a:latin typeface="Arial"/>
              <a:ea typeface="Arial"/>
              <a:cs typeface="Arial"/>
              <a:sym typeface="Arial"/>
            </a:endParaRPr>
          </a:p>
          <a:p>
            <a:pPr indent="-313690" lvl="0" marL="325755" marR="917575"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Conceptually, most other systems store information as a list of  file-based changes.</a:t>
            </a:r>
            <a:endParaRPr sz="2000">
              <a:latin typeface="Arial"/>
              <a:ea typeface="Arial"/>
              <a:cs typeface="Arial"/>
              <a:sym typeface="Arial"/>
            </a:endParaRPr>
          </a:p>
          <a:p>
            <a:pPr indent="-313690" lvl="0" marL="325755" marR="77470" rtl="0" algn="l">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These other systems (CVS, Subversion, Perforce, Bazaar, and so on)  think of the information they store as a set of files and the changes  made to each file over time (this is commonly described</a:t>
            </a:r>
            <a:endParaRPr sz="2000">
              <a:latin typeface="Arial"/>
              <a:ea typeface="Arial"/>
              <a:cs typeface="Arial"/>
              <a:sym typeface="Arial"/>
            </a:endParaRPr>
          </a:p>
          <a:p>
            <a:pPr indent="0" lvl="0" marL="325755" marR="0" rtl="0" algn="l">
              <a:lnSpc>
                <a:spcPct val="100000"/>
              </a:lnSpc>
              <a:spcBef>
                <a:spcPts val="345"/>
              </a:spcBef>
              <a:spcAft>
                <a:spcPts val="0"/>
              </a:spcAft>
              <a:buNone/>
            </a:pPr>
            <a:r>
              <a:rPr lang="en" sz="2000">
                <a:solidFill>
                  <a:srgbClr val="4E443C"/>
                </a:solidFill>
                <a:latin typeface="Arial"/>
                <a:ea typeface="Arial"/>
                <a:cs typeface="Arial"/>
                <a:sym typeface="Arial"/>
              </a:rPr>
              <a:t>as </a:t>
            </a:r>
            <a:r>
              <a:rPr b="1" lang="en" sz="2400">
                <a:solidFill>
                  <a:srgbClr val="4E443C"/>
                </a:solidFill>
                <a:latin typeface="Arial"/>
                <a:ea typeface="Arial"/>
                <a:cs typeface="Arial"/>
                <a:sym typeface="Arial"/>
              </a:rPr>
              <a:t>delta-based </a:t>
            </a:r>
            <a:r>
              <a:rPr lang="en" sz="2000">
                <a:solidFill>
                  <a:srgbClr val="4E443C"/>
                </a:solidFill>
                <a:latin typeface="Arial"/>
                <a:ea typeface="Arial"/>
                <a:cs typeface="Arial"/>
                <a:sym typeface="Arial"/>
              </a:rPr>
              <a:t>version control).</a:t>
            </a:r>
            <a:endParaRPr sz="2000">
              <a:latin typeface="Arial"/>
              <a:ea typeface="Arial"/>
              <a:cs typeface="Arial"/>
              <a:sym typeface="Arial"/>
            </a:endParaRPr>
          </a:p>
        </p:txBody>
      </p:sp>
      <p:pic>
        <p:nvPicPr>
          <p:cNvPr id="182" name="Google Shape;182;p32"/>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84725" y="638926"/>
            <a:ext cx="5413375" cy="8788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
              <a:t>Storing data as changes to a base  version of each file</a:t>
            </a:r>
            <a:endParaRPr/>
          </a:p>
        </p:txBody>
      </p:sp>
      <p:pic>
        <p:nvPicPr>
          <p:cNvPr id="188" name="Google Shape;188;p33"/>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pic>
        <p:nvPicPr>
          <p:cNvPr id="189" name="Google Shape;189;p33"/>
          <p:cNvPicPr preferRelativeResize="0"/>
          <p:nvPr/>
        </p:nvPicPr>
        <p:blipFill rotWithShape="1">
          <a:blip r:embed="rId4">
            <a:alphaModFix/>
          </a:blip>
          <a:srcRect b="0" l="0" r="0" t="0"/>
          <a:stretch/>
        </p:blipFill>
        <p:spPr>
          <a:xfrm>
            <a:off x="762000" y="1686644"/>
            <a:ext cx="7619999" cy="2952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3" name="Shape 193"/>
        <p:cNvGrpSpPr/>
        <p:nvPr/>
      </p:nvGrpSpPr>
      <p:grpSpPr>
        <a:xfrm>
          <a:off x="0" y="0"/>
          <a:ext cx="0" cy="0"/>
          <a:chOff x="0" y="0"/>
          <a:chExt cx="0" cy="0"/>
        </a:xfrm>
      </p:grpSpPr>
      <p:sp>
        <p:nvSpPr>
          <p:cNvPr id="194" name="Google Shape;194;p34"/>
          <p:cNvSpPr txBox="1"/>
          <p:nvPr/>
        </p:nvSpPr>
        <p:spPr>
          <a:xfrm>
            <a:off x="528774" y="1563630"/>
            <a:ext cx="8077834" cy="3180080"/>
          </a:xfrm>
          <a:prstGeom prst="rect">
            <a:avLst/>
          </a:prstGeom>
          <a:noFill/>
          <a:ln>
            <a:noFill/>
          </a:ln>
        </p:spPr>
        <p:txBody>
          <a:bodyPr anchorCtr="0" anchor="t" bIns="0" lIns="0" spcFirstLastPara="1" rIns="0" wrap="square" tIns="58400">
            <a:spAutoFit/>
          </a:bodyPr>
          <a:lstStyle/>
          <a:p>
            <a:pPr indent="-313690" lvl="0" marL="325755" marR="0" rtl="0" algn="just">
              <a:lnSpc>
                <a:spcPct val="100000"/>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Git doesn’t think of or store its data this way.</a:t>
            </a:r>
            <a:endParaRPr sz="2000">
              <a:latin typeface="Arial"/>
              <a:ea typeface="Arial"/>
              <a:cs typeface="Arial"/>
              <a:sym typeface="Arial"/>
            </a:endParaRPr>
          </a:p>
          <a:p>
            <a:pPr indent="-313690" lvl="0" marL="325755" marR="484505" rtl="0" algn="just">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Instead, Git thinks of its data more like a series of snapshots of a  miniature filesystem.</a:t>
            </a:r>
            <a:endParaRPr sz="2000">
              <a:latin typeface="Arial"/>
              <a:ea typeface="Arial"/>
              <a:cs typeface="Arial"/>
              <a:sym typeface="Arial"/>
            </a:endParaRPr>
          </a:p>
          <a:p>
            <a:pPr indent="-313690" lvl="0" marL="325755" marR="5080" rtl="0" algn="just">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With Git, every time you commit, or save the state of your project, Git  basically takes a picture of what all your files look like at that moment  and stores a reference to that snapshot.</a:t>
            </a:r>
            <a:endParaRPr sz="2000">
              <a:latin typeface="Arial"/>
              <a:ea typeface="Arial"/>
              <a:cs typeface="Arial"/>
              <a:sym typeface="Arial"/>
            </a:endParaRPr>
          </a:p>
          <a:p>
            <a:pPr indent="-313690" lvl="0" marL="325755" marR="369570" rtl="0" algn="just">
              <a:lnSpc>
                <a:spcPct val="114999"/>
              </a:lnSpc>
              <a:spcBef>
                <a:spcPts val="0"/>
              </a:spcBef>
              <a:spcAft>
                <a:spcPts val="0"/>
              </a:spcAft>
              <a:buClr>
                <a:srgbClr val="000000"/>
              </a:buClr>
              <a:buSzPts val="2000"/>
              <a:buFont typeface="Arial"/>
              <a:buChar char="-"/>
            </a:pPr>
            <a:r>
              <a:rPr lang="en" sz="2000">
                <a:solidFill>
                  <a:srgbClr val="4E443C"/>
                </a:solidFill>
                <a:latin typeface="Arial"/>
                <a:ea typeface="Arial"/>
                <a:cs typeface="Arial"/>
                <a:sym typeface="Arial"/>
              </a:rPr>
              <a:t>To be efficient, if files have not changed, Git doesn’t store the file  again, just a link to the previous identical file it has already stored.</a:t>
            </a:r>
            <a:endParaRPr sz="2000">
              <a:latin typeface="Arial"/>
              <a:ea typeface="Arial"/>
              <a:cs typeface="Arial"/>
              <a:sym typeface="Arial"/>
            </a:endParaRPr>
          </a:p>
          <a:p>
            <a:pPr indent="-313690" lvl="0" marL="325755" marR="0" rtl="0" algn="just">
              <a:lnSpc>
                <a:spcPct val="100000"/>
              </a:lnSpc>
              <a:spcBef>
                <a:spcPts val="359"/>
              </a:spcBef>
              <a:spcAft>
                <a:spcPts val="0"/>
              </a:spcAft>
              <a:buClr>
                <a:srgbClr val="000000"/>
              </a:buClr>
              <a:buSzPts val="2000"/>
              <a:buFont typeface="Arial"/>
              <a:buChar char="-"/>
            </a:pPr>
            <a:r>
              <a:rPr lang="en" sz="2000">
                <a:solidFill>
                  <a:srgbClr val="4E443C"/>
                </a:solidFill>
                <a:latin typeface="Arial"/>
                <a:ea typeface="Arial"/>
                <a:cs typeface="Arial"/>
                <a:sym typeface="Arial"/>
              </a:rPr>
              <a:t>Git thinks about its data more like a </a:t>
            </a:r>
            <a:r>
              <a:rPr b="1" lang="en" sz="2000">
                <a:solidFill>
                  <a:srgbClr val="4E443C"/>
                </a:solidFill>
                <a:latin typeface="Arial"/>
                <a:ea typeface="Arial"/>
                <a:cs typeface="Arial"/>
                <a:sym typeface="Arial"/>
              </a:rPr>
              <a:t>stream of snapshots</a:t>
            </a:r>
            <a:r>
              <a:rPr lang="en" sz="2000">
                <a:solidFill>
                  <a:srgbClr val="4E443C"/>
                </a:solidFill>
                <a:latin typeface="Arial"/>
                <a:ea typeface="Arial"/>
                <a:cs typeface="Arial"/>
                <a:sym typeface="Arial"/>
              </a:rPr>
              <a:t>.</a:t>
            </a:r>
            <a:endParaRPr sz="2000">
              <a:latin typeface="Arial"/>
              <a:ea typeface="Arial"/>
              <a:cs typeface="Arial"/>
              <a:sym typeface="Arial"/>
            </a:endParaRPr>
          </a:p>
        </p:txBody>
      </p:sp>
      <p:pic>
        <p:nvPicPr>
          <p:cNvPr id="195" name="Google Shape;195;p34"/>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196" name="Google Shape;196;p34"/>
          <p:cNvSpPr txBox="1"/>
          <p:nvPr>
            <p:ph type="title"/>
          </p:nvPr>
        </p:nvSpPr>
        <p:spPr>
          <a:xfrm>
            <a:off x="384725" y="638926"/>
            <a:ext cx="5413375" cy="8788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
              <a:t>Storing data as changes to a base  version of each file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384725" y="638926"/>
            <a:ext cx="5116830" cy="8788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
              <a:t>Storing data as snapshots of the  project over time</a:t>
            </a:r>
            <a:endParaRPr/>
          </a:p>
        </p:txBody>
      </p:sp>
      <p:pic>
        <p:nvPicPr>
          <p:cNvPr id="202" name="Google Shape;202;p35"/>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pic>
        <p:nvPicPr>
          <p:cNvPr id="203" name="Google Shape;203;p35"/>
          <p:cNvPicPr preferRelativeResize="0"/>
          <p:nvPr/>
        </p:nvPicPr>
        <p:blipFill rotWithShape="1">
          <a:blip r:embed="rId4">
            <a:alphaModFix/>
          </a:blip>
          <a:srcRect b="0" l="0" r="0" t="0"/>
          <a:stretch/>
        </p:blipFill>
        <p:spPr>
          <a:xfrm>
            <a:off x="762000" y="1657722"/>
            <a:ext cx="7619999" cy="29051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7" name="Shape 207"/>
        <p:cNvGrpSpPr/>
        <p:nvPr/>
      </p:nvGrpSpPr>
      <p:grpSpPr>
        <a:xfrm>
          <a:off x="0" y="0"/>
          <a:ext cx="0" cy="0"/>
          <a:chOff x="0" y="0"/>
          <a:chExt cx="0" cy="0"/>
        </a:xfrm>
      </p:grpSpPr>
      <p:sp>
        <p:nvSpPr>
          <p:cNvPr id="208" name="Google Shape;208;p36"/>
          <p:cNvSpPr txBox="1"/>
          <p:nvPr>
            <p:ph idx="1" type="body"/>
          </p:nvPr>
        </p:nvSpPr>
        <p:spPr>
          <a:xfrm>
            <a:off x="478335" y="1558042"/>
            <a:ext cx="8187328" cy="3110229"/>
          </a:xfrm>
          <a:prstGeom prst="rect">
            <a:avLst/>
          </a:prstGeom>
          <a:noFill/>
          <a:ln>
            <a:noFill/>
          </a:ln>
        </p:spPr>
        <p:txBody>
          <a:bodyPr anchorCtr="0" anchor="t" bIns="0" lIns="0" spcFirstLastPara="1" rIns="0" wrap="square" tIns="12700">
            <a:spAutoFit/>
          </a:bodyPr>
          <a:lstStyle/>
          <a:p>
            <a:pPr indent="-313690" lvl="0" marL="375920" marR="31750" rtl="0" algn="l">
              <a:lnSpc>
                <a:spcPct val="114999"/>
              </a:lnSpc>
              <a:spcBef>
                <a:spcPts val="0"/>
              </a:spcBef>
              <a:spcAft>
                <a:spcPts val="0"/>
              </a:spcAft>
              <a:buClr>
                <a:srgbClr val="000000"/>
              </a:buClr>
              <a:buSzPts val="2000"/>
              <a:buFont typeface="Arial"/>
              <a:buChar char="-"/>
            </a:pPr>
            <a:r>
              <a:rPr lang="en"/>
              <a:t>This is an important distinction between Git and nearly all other  VCSs.</a:t>
            </a:r>
            <a:endParaRPr/>
          </a:p>
          <a:p>
            <a:pPr indent="-313690" lvl="0" marL="375920" marR="168910" rtl="0" algn="l">
              <a:lnSpc>
                <a:spcPct val="114999"/>
              </a:lnSpc>
              <a:spcBef>
                <a:spcPts val="0"/>
              </a:spcBef>
              <a:spcAft>
                <a:spcPts val="0"/>
              </a:spcAft>
              <a:buClr>
                <a:srgbClr val="000000"/>
              </a:buClr>
              <a:buSzPts val="2000"/>
              <a:buFont typeface="Arial"/>
              <a:buChar char="-"/>
            </a:pPr>
            <a:r>
              <a:rPr lang="en"/>
              <a:t>It makes Git reconsider almost every aspect of version control  that most other systems copied from the previous generation.</a:t>
            </a:r>
            <a:endParaRPr/>
          </a:p>
          <a:p>
            <a:pPr indent="-313690" lvl="0" marL="375920" marR="5080" rtl="0" algn="l">
              <a:lnSpc>
                <a:spcPct val="114999"/>
              </a:lnSpc>
              <a:spcBef>
                <a:spcPts val="0"/>
              </a:spcBef>
              <a:spcAft>
                <a:spcPts val="0"/>
              </a:spcAft>
              <a:buClr>
                <a:srgbClr val="000000"/>
              </a:buClr>
              <a:buSzPts val="2000"/>
              <a:buFont typeface="Arial"/>
              <a:buChar char="-"/>
            </a:pPr>
            <a:r>
              <a:rPr lang="en"/>
              <a:t>This makes Git more like a mini filesystem with some incredibly  powerful tools built on top of it, rather than simply a VCS.</a:t>
            </a:r>
            <a:endParaRPr/>
          </a:p>
          <a:p>
            <a:pPr indent="-313690" lvl="0" marL="375920" marR="146050" rtl="0" algn="l">
              <a:lnSpc>
                <a:spcPct val="114999"/>
              </a:lnSpc>
              <a:spcBef>
                <a:spcPts val="0"/>
              </a:spcBef>
              <a:spcAft>
                <a:spcPts val="0"/>
              </a:spcAft>
              <a:buClr>
                <a:srgbClr val="000000"/>
              </a:buClr>
              <a:buSzPts val="2000"/>
              <a:buFont typeface="Arial"/>
              <a:buChar char="-"/>
            </a:pPr>
            <a:r>
              <a:rPr lang="en"/>
              <a:t>We’ll explore some of the benefits you gain by thinking of your  data this way when we cover Git branching in Git Branching.</a:t>
            </a:r>
            <a:endParaRPr/>
          </a:p>
        </p:txBody>
      </p:sp>
      <p:pic>
        <p:nvPicPr>
          <p:cNvPr id="209" name="Google Shape;209;p36"/>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10" name="Google Shape;210;p36"/>
          <p:cNvSpPr txBox="1"/>
          <p:nvPr>
            <p:ph type="title"/>
          </p:nvPr>
        </p:nvSpPr>
        <p:spPr>
          <a:xfrm>
            <a:off x="384725" y="638926"/>
            <a:ext cx="5116830" cy="8788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
              <a:t>Storing data as snapshots of the  project over time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4" name="Shape 214"/>
        <p:cNvGrpSpPr/>
        <p:nvPr/>
      </p:nvGrpSpPr>
      <p:grpSpPr>
        <a:xfrm>
          <a:off x="0" y="0"/>
          <a:ext cx="0" cy="0"/>
          <a:chOff x="0" y="0"/>
          <a:chExt cx="0" cy="0"/>
        </a:xfrm>
      </p:grpSpPr>
      <p:sp>
        <p:nvSpPr>
          <p:cNvPr id="215" name="Google Shape;215;p37"/>
          <p:cNvSpPr txBox="1"/>
          <p:nvPr>
            <p:ph type="title"/>
          </p:nvPr>
        </p:nvSpPr>
        <p:spPr>
          <a:xfrm>
            <a:off x="882350" y="521750"/>
            <a:ext cx="5087100" cy="443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Git Generally Only Adds Data</a:t>
            </a:r>
            <a:endParaRPr/>
          </a:p>
        </p:txBody>
      </p:sp>
      <p:sp>
        <p:nvSpPr>
          <p:cNvPr id="216" name="Google Shape;216;p37"/>
          <p:cNvSpPr txBox="1"/>
          <p:nvPr/>
        </p:nvSpPr>
        <p:spPr>
          <a:xfrm>
            <a:off x="528774" y="1169620"/>
            <a:ext cx="5440680" cy="3530600"/>
          </a:xfrm>
          <a:prstGeom prst="rect">
            <a:avLst/>
          </a:prstGeom>
          <a:noFill/>
          <a:ln>
            <a:noFill/>
          </a:ln>
        </p:spPr>
        <p:txBody>
          <a:bodyPr anchorCtr="0" anchor="t" bIns="0" lIns="0" spcFirstLastPara="1" rIns="0" wrap="square" tIns="12700">
            <a:spAutoFit/>
          </a:bodyPr>
          <a:lstStyle/>
          <a:p>
            <a:pPr indent="-313690" lvl="0" marL="325755" marR="5080" rtl="0" algn="l">
              <a:lnSpc>
                <a:spcPct val="114999"/>
              </a:lnSpc>
              <a:spcBef>
                <a:spcPts val="0"/>
              </a:spcBef>
              <a:spcAft>
                <a:spcPts val="0"/>
              </a:spcAft>
              <a:buSzPts val="2000"/>
              <a:buFont typeface="Arial"/>
              <a:buChar char="-"/>
            </a:pPr>
            <a:r>
              <a:rPr lang="en" sz="2000">
                <a:latin typeface="Arial"/>
                <a:ea typeface="Arial"/>
                <a:cs typeface="Arial"/>
                <a:sym typeface="Arial"/>
              </a:rPr>
              <a:t>When you do actions in Git, nearly all of them  only </a:t>
            </a:r>
            <a:r>
              <a:rPr b="1" lang="en" sz="2000">
                <a:latin typeface="Arial"/>
                <a:ea typeface="Arial"/>
                <a:cs typeface="Arial"/>
                <a:sym typeface="Arial"/>
              </a:rPr>
              <a:t>add </a:t>
            </a:r>
            <a:r>
              <a:rPr lang="en" sz="2000">
                <a:latin typeface="Arial"/>
                <a:ea typeface="Arial"/>
                <a:cs typeface="Arial"/>
                <a:sym typeface="Arial"/>
              </a:rPr>
              <a:t>data to the Git database.</a:t>
            </a:r>
            <a:endParaRPr sz="2000">
              <a:latin typeface="Arial"/>
              <a:ea typeface="Arial"/>
              <a:cs typeface="Arial"/>
              <a:sym typeface="Arial"/>
            </a:endParaRPr>
          </a:p>
          <a:p>
            <a:pPr indent="-313690" lvl="0" marL="325755" marR="157480" rtl="0" algn="l">
              <a:lnSpc>
                <a:spcPct val="114999"/>
              </a:lnSpc>
              <a:spcBef>
                <a:spcPts val="0"/>
              </a:spcBef>
              <a:spcAft>
                <a:spcPts val="0"/>
              </a:spcAft>
              <a:buSzPts val="2000"/>
              <a:buFont typeface="Arial"/>
              <a:buChar char="-"/>
            </a:pPr>
            <a:r>
              <a:rPr lang="en" sz="2000">
                <a:latin typeface="Arial"/>
                <a:ea typeface="Arial"/>
                <a:cs typeface="Arial"/>
                <a:sym typeface="Arial"/>
              </a:rPr>
              <a:t>It is hard to get the system to do anything  that is not undoable or to make it erase data  in any way.</a:t>
            </a:r>
            <a:endParaRPr sz="2000">
              <a:latin typeface="Arial"/>
              <a:ea typeface="Arial"/>
              <a:cs typeface="Arial"/>
              <a:sym typeface="Arial"/>
            </a:endParaRPr>
          </a:p>
          <a:p>
            <a:pPr indent="-313690" lvl="0" marL="325755" marR="54610" rtl="0" algn="l">
              <a:lnSpc>
                <a:spcPct val="114999"/>
              </a:lnSpc>
              <a:spcBef>
                <a:spcPts val="0"/>
              </a:spcBef>
              <a:spcAft>
                <a:spcPts val="0"/>
              </a:spcAft>
              <a:buSzPts val="2000"/>
              <a:buFont typeface="Arial"/>
              <a:buChar char="-"/>
            </a:pPr>
            <a:r>
              <a:rPr lang="en" sz="2000">
                <a:latin typeface="Arial"/>
                <a:ea typeface="Arial"/>
                <a:cs typeface="Arial"/>
                <a:sym typeface="Arial"/>
              </a:rPr>
              <a:t>As with any VCS, you can lose or mess up  changes you haven’t committed yet, but after  you commit a snapshot into Git, it is very  difficult to lose, especially if you regularly  push your database to another repository.</a:t>
            </a:r>
            <a:endParaRPr sz="2000">
              <a:latin typeface="Arial"/>
              <a:ea typeface="Arial"/>
              <a:cs typeface="Arial"/>
              <a:sym typeface="Arial"/>
            </a:endParaRPr>
          </a:p>
        </p:txBody>
      </p:sp>
      <p:pic>
        <p:nvPicPr>
          <p:cNvPr id="217" name="Google Shape;217;p37"/>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pic>
        <p:nvPicPr>
          <p:cNvPr id="218" name="Google Shape;218;p37"/>
          <p:cNvPicPr preferRelativeResize="0"/>
          <p:nvPr/>
        </p:nvPicPr>
        <p:blipFill rotWithShape="1">
          <a:blip r:embed="rId4">
            <a:alphaModFix/>
          </a:blip>
          <a:srcRect b="0" l="0" r="0" t="0"/>
          <a:stretch/>
        </p:blipFill>
        <p:spPr>
          <a:xfrm>
            <a:off x="5984488" y="1515375"/>
            <a:ext cx="3048000" cy="3047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2" name="Shape 222"/>
        <p:cNvGrpSpPr/>
        <p:nvPr/>
      </p:nvGrpSpPr>
      <p:grpSpPr>
        <a:xfrm>
          <a:off x="0" y="0"/>
          <a:ext cx="0" cy="0"/>
          <a:chOff x="0" y="0"/>
          <a:chExt cx="0" cy="0"/>
        </a:xfrm>
      </p:grpSpPr>
      <p:sp>
        <p:nvSpPr>
          <p:cNvPr id="223" name="Google Shape;223;p38"/>
          <p:cNvSpPr txBox="1"/>
          <p:nvPr/>
        </p:nvSpPr>
        <p:spPr>
          <a:xfrm>
            <a:off x="528774" y="2020624"/>
            <a:ext cx="7978775" cy="1708150"/>
          </a:xfrm>
          <a:prstGeom prst="rect">
            <a:avLst/>
          </a:prstGeom>
          <a:noFill/>
          <a:ln>
            <a:noFill/>
          </a:ln>
        </p:spPr>
        <p:txBody>
          <a:bodyPr anchorCtr="0" anchor="t" bIns="0" lIns="0" spcFirstLastPara="1" rIns="0" wrap="square" tIns="12700">
            <a:spAutoFit/>
          </a:bodyPr>
          <a:lstStyle/>
          <a:p>
            <a:pPr indent="-313690" lvl="0" marL="325755" marR="5080" rtl="0" algn="just">
              <a:lnSpc>
                <a:spcPct val="114999"/>
              </a:lnSpc>
              <a:spcBef>
                <a:spcPts val="0"/>
              </a:spcBef>
              <a:spcAft>
                <a:spcPts val="0"/>
              </a:spcAft>
              <a:buNone/>
            </a:pPr>
            <a:r>
              <a:rPr lang="en" sz="2000">
                <a:latin typeface="Arial"/>
                <a:ea typeface="Arial"/>
                <a:cs typeface="Arial"/>
                <a:sym typeface="Arial"/>
              </a:rPr>
              <a:t>-   </a:t>
            </a:r>
            <a:r>
              <a:rPr lang="en" sz="2400">
                <a:solidFill>
                  <a:srgbClr val="4E443C"/>
                </a:solidFill>
                <a:latin typeface="Arial"/>
                <a:ea typeface="Arial"/>
                <a:cs typeface="Arial"/>
                <a:sym typeface="Arial"/>
              </a:rPr>
              <a:t>Pay attention now — here is the main thing to remember  about Git if you want the rest of your learning process to  go smoothly. Git has three main states that your files can  reside in: </a:t>
            </a:r>
            <a:r>
              <a:rPr b="1" lang="en" sz="2400">
                <a:solidFill>
                  <a:srgbClr val="4E443C"/>
                </a:solidFill>
                <a:latin typeface="Arial"/>
                <a:ea typeface="Arial"/>
                <a:cs typeface="Arial"/>
                <a:sym typeface="Arial"/>
              </a:rPr>
              <a:t>modified</a:t>
            </a:r>
            <a:r>
              <a:rPr lang="en" sz="2400">
                <a:solidFill>
                  <a:srgbClr val="4E443C"/>
                </a:solidFill>
                <a:latin typeface="Arial"/>
                <a:ea typeface="Arial"/>
                <a:cs typeface="Arial"/>
                <a:sym typeface="Arial"/>
              </a:rPr>
              <a:t>, </a:t>
            </a:r>
            <a:r>
              <a:rPr b="1" lang="en" sz="2400">
                <a:solidFill>
                  <a:srgbClr val="4E443C"/>
                </a:solidFill>
                <a:latin typeface="Arial"/>
                <a:ea typeface="Arial"/>
                <a:cs typeface="Arial"/>
                <a:sym typeface="Arial"/>
              </a:rPr>
              <a:t>staged</a:t>
            </a:r>
            <a:r>
              <a:rPr lang="en" sz="2400">
                <a:solidFill>
                  <a:srgbClr val="4E443C"/>
                </a:solidFill>
                <a:latin typeface="Arial"/>
                <a:ea typeface="Arial"/>
                <a:cs typeface="Arial"/>
                <a:sym typeface="Arial"/>
              </a:rPr>
              <a:t>, and </a:t>
            </a:r>
            <a:r>
              <a:rPr b="1" lang="en" sz="2400">
                <a:solidFill>
                  <a:srgbClr val="4E443C"/>
                </a:solidFill>
                <a:latin typeface="Arial"/>
                <a:ea typeface="Arial"/>
                <a:cs typeface="Arial"/>
                <a:sym typeface="Arial"/>
              </a:rPr>
              <a:t>committed</a:t>
            </a:r>
            <a:r>
              <a:rPr lang="en" sz="2400">
                <a:solidFill>
                  <a:srgbClr val="4E443C"/>
                </a:solidFill>
                <a:latin typeface="Arial"/>
                <a:ea typeface="Arial"/>
                <a:cs typeface="Arial"/>
                <a:sym typeface="Arial"/>
              </a:rPr>
              <a:t>:</a:t>
            </a:r>
            <a:endParaRPr sz="2400">
              <a:latin typeface="Arial"/>
              <a:ea typeface="Arial"/>
              <a:cs typeface="Arial"/>
              <a:sym typeface="Arial"/>
            </a:endParaRPr>
          </a:p>
        </p:txBody>
      </p:sp>
      <p:pic>
        <p:nvPicPr>
          <p:cNvPr id="224" name="Google Shape;224;p38"/>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25" name="Google Shape;225;p38"/>
          <p:cNvSpPr txBox="1"/>
          <p:nvPr>
            <p:ph type="title"/>
          </p:nvPr>
        </p:nvSpPr>
        <p:spPr>
          <a:xfrm>
            <a:off x="384725" y="638926"/>
            <a:ext cx="275907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The Three States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9" name="Shape 229"/>
        <p:cNvGrpSpPr/>
        <p:nvPr/>
      </p:nvGrpSpPr>
      <p:grpSpPr>
        <a:xfrm>
          <a:off x="0" y="0"/>
          <a:ext cx="0" cy="0"/>
          <a:chOff x="0" y="0"/>
          <a:chExt cx="0" cy="0"/>
        </a:xfrm>
      </p:grpSpPr>
      <p:sp>
        <p:nvSpPr>
          <p:cNvPr id="230" name="Google Shape;230;p39"/>
          <p:cNvSpPr txBox="1"/>
          <p:nvPr/>
        </p:nvSpPr>
        <p:spPr>
          <a:xfrm>
            <a:off x="533292" y="1440759"/>
            <a:ext cx="8034655" cy="2549525"/>
          </a:xfrm>
          <a:prstGeom prst="rect">
            <a:avLst/>
          </a:prstGeom>
          <a:noFill/>
          <a:ln>
            <a:noFill/>
          </a:ln>
        </p:spPr>
        <p:txBody>
          <a:bodyPr anchorCtr="0" anchor="t" bIns="0" lIns="0" spcFirstLastPara="1" rIns="0" wrap="square" tIns="12700">
            <a:spAutoFit/>
          </a:bodyPr>
          <a:lstStyle/>
          <a:p>
            <a:pPr indent="-309244" lvl="0" marL="321310" marR="55880" rtl="0" algn="l">
              <a:lnSpc>
                <a:spcPct val="114999"/>
              </a:lnSpc>
              <a:spcBef>
                <a:spcPts val="0"/>
              </a:spcBef>
              <a:spcAft>
                <a:spcPts val="0"/>
              </a:spcAft>
              <a:buClr>
                <a:srgbClr val="595959"/>
              </a:buClr>
              <a:buSzPts val="1800"/>
              <a:buFont typeface="Arial"/>
              <a:buChar char="•"/>
            </a:pPr>
            <a:r>
              <a:rPr b="1" lang="en" sz="2400">
                <a:solidFill>
                  <a:srgbClr val="4E443C"/>
                </a:solidFill>
                <a:latin typeface="Arial"/>
                <a:ea typeface="Arial"/>
                <a:cs typeface="Arial"/>
                <a:sym typeface="Arial"/>
              </a:rPr>
              <a:t>Modified </a:t>
            </a:r>
            <a:r>
              <a:rPr lang="en" sz="2400">
                <a:solidFill>
                  <a:srgbClr val="4E443C"/>
                </a:solidFill>
                <a:latin typeface="Arial"/>
                <a:ea typeface="Arial"/>
                <a:cs typeface="Arial"/>
                <a:sym typeface="Arial"/>
              </a:rPr>
              <a:t>means that you have changed the file but have  not committed it to your database yet.</a:t>
            </a:r>
            <a:endParaRPr sz="2400">
              <a:latin typeface="Arial"/>
              <a:ea typeface="Arial"/>
              <a:cs typeface="Arial"/>
              <a:sym typeface="Arial"/>
            </a:endParaRPr>
          </a:p>
          <a:p>
            <a:pPr indent="-309244" lvl="0" marL="321310" marR="5080" rtl="0" algn="l">
              <a:lnSpc>
                <a:spcPct val="114999"/>
              </a:lnSpc>
              <a:spcBef>
                <a:spcPts val="0"/>
              </a:spcBef>
              <a:spcAft>
                <a:spcPts val="0"/>
              </a:spcAft>
              <a:buClr>
                <a:srgbClr val="595959"/>
              </a:buClr>
              <a:buSzPts val="1800"/>
              <a:buFont typeface="Arial"/>
              <a:buChar char="•"/>
            </a:pPr>
            <a:r>
              <a:rPr b="1" lang="en" sz="2400">
                <a:solidFill>
                  <a:srgbClr val="4E443C"/>
                </a:solidFill>
                <a:latin typeface="Arial"/>
                <a:ea typeface="Arial"/>
                <a:cs typeface="Arial"/>
                <a:sym typeface="Arial"/>
              </a:rPr>
              <a:t>Staged </a:t>
            </a:r>
            <a:r>
              <a:rPr lang="en" sz="2400">
                <a:solidFill>
                  <a:srgbClr val="4E443C"/>
                </a:solidFill>
                <a:latin typeface="Arial"/>
                <a:ea typeface="Arial"/>
                <a:cs typeface="Arial"/>
                <a:sym typeface="Arial"/>
              </a:rPr>
              <a:t>means that you have marked a modified file in its  current version to go into your next commit snapshot.</a:t>
            </a:r>
            <a:endParaRPr sz="2400">
              <a:latin typeface="Arial"/>
              <a:ea typeface="Arial"/>
              <a:cs typeface="Arial"/>
              <a:sym typeface="Arial"/>
            </a:endParaRPr>
          </a:p>
          <a:p>
            <a:pPr indent="-309244" lvl="0" marL="321310" marR="224154" rtl="0" algn="l">
              <a:lnSpc>
                <a:spcPct val="114999"/>
              </a:lnSpc>
              <a:spcBef>
                <a:spcPts val="0"/>
              </a:spcBef>
              <a:spcAft>
                <a:spcPts val="0"/>
              </a:spcAft>
              <a:buClr>
                <a:srgbClr val="595959"/>
              </a:buClr>
              <a:buSzPts val="1800"/>
              <a:buFont typeface="Arial"/>
              <a:buChar char="•"/>
            </a:pPr>
            <a:r>
              <a:rPr b="1" lang="en" sz="2400">
                <a:solidFill>
                  <a:srgbClr val="4E443C"/>
                </a:solidFill>
                <a:latin typeface="Arial"/>
                <a:ea typeface="Arial"/>
                <a:cs typeface="Arial"/>
                <a:sym typeface="Arial"/>
              </a:rPr>
              <a:t>Committed </a:t>
            </a:r>
            <a:r>
              <a:rPr lang="en" sz="2400">
                <a:solidFill>
                  <a:srgbClr val="4E443C"/>
                </a:solidFill>
                <a:latin typeface="Arial"/>
                <a:ea typeface="Arial"/>
                <a:cs typeface="Arial"/>
                <a:sym typeface="Arial"/>
              </a:rPr>
              <a:t>means that the data is safely stored in your  local database.</a:t>
            </a:r>
            <a:endParaRPr sz="2400">
              <a:latin typeface="Arial"/>
              <a:ea typeface="Arial"/>
              <a:cs typeface="Arial"/>
              <a:sym typeface="Arial"/>
            </a:endParaRPr>
          </a:p>
        </p:txBody>
      </p:sp>
      <p:pic>
        <p:nvPicPr>
          <p:cNvPr id="231" name="Google Shape;231;p39"/>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32" name="Google Shape;232;p39"/>
          <p:cNvSpPr txBox="1"/>
          <p:nvPr>
            <p:ph type="title"/>
          </p:nvPr>
        </p:nvSpPr>
        <p:spPr>
          <a:xfrm>
            <a:off x="384725" y="638926"/>
            <a:ext cx="275907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t>The Three States</a:t>
            </a:r>
            <a:endParaRPr/>
          </a:p>
        </p:txBody>
      </p:sp>
      <p:pic>
        <p:nvPicPr>
          <p:cNvPr id="233" name="Google Shape;233;p39"/>
          <p:cNvPicPr preferRelativeResize="0"/>
          <p:nvPr/>
        </p:nvPicPr>
        <p:blipFill rotWithShape="1">
          <a:blip r:embed="rId4">
            <a:alphaModFix/>
          </a:blip>
          <a:srcRect b="0" l="0" r="0" t="0"/>
          <a:stretch/>
        </p:blipFill>
        <p:spPr>
          <a:xfrm>
            <a:off x="3980675" y="3712963"/>
            <a:ext cx="1182648" cy="1185209"/>
          </a:xfrm>
          <a:prstGeom prst="rect">
            <a:avLst/>
          </a:prstGeom>
          <a:noFill/>
          <a:ln>
            <a:noFill/>
          </a:ln>
        </p:spPr>
      </p:pic>
      <p:grpSp>
        <p:nvGrpSpPr>
          <p:cNvPr id="234" name="Google Shape;234;p39"/>
          <p:cNvGrpSpPr/>
          <p:nvPr/>
        </p:nvGrpSpPr>
        <p:grpSpPr>
          <a:xfrm>
            <a:off x="5465340" y="3209263"/>
            <a:ext cx="3623832" cy="1934236"/>
            <a:chOff x="5465340" y="3209263"/>
            <a:chExt cx="3623832" cy="1934236"/>
          </a:xfrm>
        </p:grpSpPr>
        <p:pic>
          <p:nvPicPr>
            <p:cNvPr id="235" name="Google Shape;235;p39"/>
            <p:cNvPicPr preferRelativeResize="0"/>
            <p:nvPr/>
          </p:nvPicPr>
          <p:blipFill rotWithShape="1">
            <a:blip r:embed="rId5">
              <a:alphaModFix/>
            </a:blip>
            <a:srcRect b="0" l="0" r="0" t="0"/>
            <a:stretch/>
          </p:blipFill>
          <p:spPr>
            <a:xfrm>
              <a:off x="5465340" y="3712962"/>
              <a:ext cx="1284709" cy="1185210"/>
            </a:xfrm>
            <a:prstGeom prst="rect">
              <a:avLst/>
            </a:prstGeom>
            <a:noFill/>
            <a:ln>
              <a:noFill/>
            </a:ln>
          </p:spPr>
        </p:pic>
        <p:pic>
          <p:nvPicPr>
            <p:cNvPr id="236" name="Google Shape;236;p39"/>
            <p:cNvPicPr preferRelativeResize="0"/>
            <p:nvPr/>
          </p:nvPicPr>
          <p:blipFill rotWithShape="1">
            <a:blip r:embed="rId6">
              <a:alphaModFix/>
            </a:blip>
            <a:srcRect b="0" l="0" r="0" t="0"/>
            <a:stretch/>
          </p:blipFill>
          <p:spPr>
            <a:xfrm>
              <a:off x="6165695" y="3209263"/>
              <a:ext cx="2923477" cy="1934236"/>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0" name="Shape 240"/>
        <p:cNvGrpSpPr/>
        <p:nvPr/>
      </p:nvGrpSpPr>
      <p:grpSpPr>
        <a:xfrm>
          <a:off x="0" y="0"/>
          <a:ext cx="0" cy="0"/>
          <a:chOff x="0" y="0"/>
          <a:chExt cx="0" cy="0"/>
        </a:xfrm>
      </p:grpSpPr>
      <p:sp>
        <p:nvSpPr>
          <p:cNvPr id="241" name="Google Shape;241;p40"/>
          <p:cNvSpPr txBox="1"/>
          <p:nvPr/>
        </p:nvSpPr>
        <p:spPr>
          <a:xfrm>
            <a:off x="291330" y="1961149"/>
            <a:ext cx="3915410" cy="1708150"/>
          </a:xfrm>
          <a:prstGeom prst="rect">
            <a:avLst/>
          </a:prstGeom>
          <a:noFill/>
          <a:ln>
            <a:noFill/>
          </a:ln>
        </p:spPr>
        <p:txBody>
          <a:bodyPr anchorCtr="0" anchor="t" bIns="0" lIns="0" spcFirstLastPara="1" rIns="0" wrap="square" tIns="12700">
            <a:spAutoFit/>
          </a:bodyPr>
          <a:lstStyle/>
          <a:p>
            <a:pPr indent="-309244" lvl="0" marL="321310" marR="5080" rtl="0" algn="l">
              <a:lnSpc>
                <a:spcPct val="114999"/>
              </a:lnSpc>
              <a:spcBef>
                <a:spcPts val="0"/>
              </a:spcBef>
              <a:spcAft>
                <a:spcPts val="0"/>
              </a:spcAft>
              <a:buClr>
                <a:srgbClr val="595959"/>
              </a:buClr>
              <a:buSzPts val="1800"/>
              <a:buFont typeface="Arial"/>
              <a:buChar char="•"/>
            </a:pPr>
            <a:r>
              <a:rPr lang="en" sz="2400">
                <a:solidFill>
                  <a:srgbClr val="4E443C"/>
                </a:solidFill>
                <a:latin typeface="Arial"/>
                <a:ea typeface="Arial"/>
                <a:cs typeface="Arial"/>
                <a:sym typeface="Arial"/>
              </a:rPr>
              <a:t>This leads us to sections  of a Git project: the  working tree, the staging  area, and the Git directory.</a:t>
            </a:r>
            <a:endParaRPr sz="2400">
              <a:latin typeface="Arial"/>
              <a:ea typeface="Arial"/>
              <a:cs typeface="Arial"/>
              <a:sym typeface="Arial"/>
            </a:endParaRPr>
          </a:p>
        </p:txBody>
      </p:sp>
      <p:pic>
        <p:nvPicPr>
          <p:cNvPr id="242" name="Google Shape;242;p40"/>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43" name="Google Shape;243;p40"/>
          <p:cNvSpPr txBox="1"/>
          <p:nvPr>
            <p:ph type="title"/>
          </p:nvPr>
        </p:nvSpPr>
        <p:spPr>
          <a:xfrm>
            <a:off x="384725" y="638926"/>
            <a:ext cx="322389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rgbClr val="4E443C"/>
                </a:solidFill>
              </a:rPr>
              <a:t>Three main sections</a:t>
            </a:r>
            <a:endParaRPr/>
          </a:p>
        </p:txBody>
      </p:sp>
      <p:pic>
        <p:nvPicPr>
          <p:cNvPr id="244" name="Google Shape;244;p40"/>
          <p:cNvPicPr preferRelativeResize="0"/>
          <p:nvPr/>
        </p:nvPicPr>
        <p:blipFill rotWithShape="1">
          <a:blip r:embed="rId4">
            <a:alphaModFix/>
          </a:blip>
          <a:srcRect b="0" l="0" r="0" t="0"/>
          <a:stretch/>
        </p:blipFill>
        <p:spPr>
          <a:xfrm>
            <a:off x="4572000" y="1791629"/>
            <a:ext cx="4542613" cy="250411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8" name="Shape 248"/>
        <p:cNvGrpSpPr/>
        <p:nvPr/>
      </p:nvGrpSpPr>
      <p:grpSpPr>
        <a:xfrm>
          <a:off x="0" y="0"/>
          <a:ext cx="0" cy="0"/>
          <a:chOff x="0" y="0"/>
          <a:chExt cx="0" cy="0"/>
        </a:xfrm>
      </p:grpSpPr>
      <p:sp>
        <p:nvSpPr>
          <p:cNvPr id="249" name="Google Shape;249;p41"/>
          <p:cNvSpPr txBox="1"/>
          <p:nvPr/>
        </p:nvSpPr>
        <p:spPr>
          <a:xfrm>
            <a:off x="291330" y="1394307"/>
            <a:ext cx="3873500" cy="3110230"/>
          </a:xfrm>
          <a:prstGeom prst="rect">
            <a:avLst/>
          </a:prstGeom>
          <a:noFill/>
          <a:ln>
            <a:noFill/>
          </a:ln>
        </p:spPr>
        <p:txBody>
          <a:bodyPr anchorCtr="0" anchor="t" bIns="0" lIns="0" spcFirstLastPara="1" rIns="0" wrap="square" tIns="12700">
            <a:spAutoFit/>
          </a:bodyPr>
          <a:lstStyle/>
          <a:p>
            <a:pPr indent="-309244" lvl="0" marL="321310" marR="5080" rtl="0" algn="l">
              <a:lnSpc>
                <a:spcPct val="114999"/>
              </a:lnSpc>
              <a:spcBef>
                <a:spcPts val="0"/>
              </a:spcBef>
              <a:spcAft>
                <a:spcPts val="0"/>
              </a:spcAft>
              <a:buClr>
                <a:srgbClr val="595959"/>
              </a:buClr>
              <a:buSzPts val="1800"/>
              <a:buFont typeface="Arial"/>
              <a:buChar char="•"/>
            </a:pPr>
            <a:r>
              <a:rPr lang="en" sz="2200">
                <a:solidFill>
                  <a:srgbClr val="4E443C"/>
                </a:solidFill>
                <a:latin typeface="Arial"/>
                <a:ea typeface="Arial"/>
                <a:cs typeface="Arial"/>
                <a:sym typeface="Arial"/>
              </a:rPr>
              <a:t>The </a:t>
            </a:r>
            <a:r>
              <a:rPr b="1" lang="en" sz="2200">
                <a:solidFill>
                  <a:srgbClr val="4E443C"/>
                </a:solidFill>
                <a:latin typeface="Arial"/>
                <a:ea typeface="Arial"/>
                <a:cs typeface="Arial"/>
                <a:sym typeface="Arial"/>
              </a:rPr>
              <a:t>working tree </a:t>
            </a:r>
            <a:r>
              <a:rPr lang="en" sz="2200">
                <a:solidFill>
                  <a:srgbClr val="4E443C"/>
                </a:solidFill>
                <a:latin typeface="Arial"/>
                <a:ea typeface="Arial"/>
                <a:cs typeface="Arial"/>
                <a:sym typeface="Arial"/>
              </a:rPr>
              <a:t>is a single  checkout of one version of  the project.</a:t>
            </a:r>
            <a:endParaRPr sz="2200">
              <a:latin typeface="Arial"/>
              <a:ea typeface="Arial"/>
              <a:cs typeface="Arial"/>
              <a:sym typeface="Arial"/>
            </a:endParaRPr>
          </a:p>
          <a:p>
            <a:pPr indent="-309244" lvl="0" marL="321310" marR="36830" rtl="0" algn="l">
              <a:lnSpc>
                <a:spcPct val="114999"/>
              </a:lnSpc>
              <a:spcBef>
                <a:spcPts val="0"/>
              </a:spcBef>
              <a:spcAft>
                <a:spcPts val="0"/>
              </a:spcAft>
              <a:buClr>
                <a:srgbClr val="595959"/>
              </a:buClr>
              <a:buSzPts val="1800"/>
              <a:buFont typeface="Arial"/>
              <a:buChar char="•"/>
            </a:pPr>
            <a:r>
              <a:rPr lang="en" sz="2200">
                <a:solidFill>
                  <a:srgbClr val="4E443C"/>
                </a:solidFill>
                <a:latin typeface="Arial"/>
                <a:ea typeface="Arial"/>
                <a:cs typeface="Arial"/>
                <a:sym typeface="Arial"/>
              </a:rPr>
              <a:t>These files are pulled out of  the compressed database in  the Git directory and placed  on disk for you to use or  modify.</a:t>
            </a:r>
            <a:endParaRPr sz="2200">
              <a:latin typeface="Arial"/>
              <a:ea typeface="Arial"/>
              <a:cs typeface="Arial"/>
              <a:sym typeface="Arial"/>
            </a:endParaRPr>
          </a:p>
        </p:txBody>
      </p:sp>
      <p:pic>
        <p:nvPicPr>
          <p:cNvPr id="250" name="Google Shape;250;p41"/>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51" name="Google Shape;251;p41"/>
          <p:cNvSpPr txBox="1"/>
          <p:nvPr>
            <p:ph type="title"/>
          </p:nvPr>
        </p:nvSpPr>
        <p:spPr>
          <a:xfrm>
            <a:off x="384725" y="638926"/>
            <a:ext cx="203263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rgbClr val="4E443C"/>
                </a:solidFill>
              </a:rPr>
              <a:t>Working tree</a:t>
            </a:r>
            <a:endParaRPr/>
          </a:p>
        </p:txBody>
      </p:sp>
      <p:grpSp>
        <p:nvGrpSpPr>
          <p:cNvPr id="252" name="Google Shape;252;p41"/>
          <p:cNvGrpSpPr/>
          <p:nvPr/>
        </p:nvGrpSpPr>
        <p:grpSpPr>
          <a:xfrm>
            <a:off x="4401013" y="1590092"/>
            <a:ext cx="4713600" cy="2705653"/>
            <a:chOff x="4401013" y="1590092"/>
            <a:chExt cx="4713600" cy="2705653"/>
          </a:xfrm>
        </p:grpSpPr>
        <p:pic>
          <p:nvPicPr>
            <p:cNvPr id="253" name="Google Shape;253;p41"/>
            <p:cNvPicPr preferRelativeResize="0"/>
            <p:nvPr/>
          </p:nvPicPr>
          <p:blipFill rotWithShape="1">
            <a:blip r:embed="rId4">
              <a:alphaModFix/>
            </a:blip>
            <a:srcRect b="0" l="0" r="0" t="0"/>
            <a:stretch/>
          </p:blipFill>
          <p:spPr>
            <a:xfrm>
              <a:off x="4572000" y="1791630"/>
              <a:ext cx="4542613" cy="2504115"/>
            </a:xfrm>
            <a:prstGeom prst="rect">
              <a:avLst/>
            </a:prstGeom>
            <a:noFill/>
            <a:ln>
              <a:noFill/>
            </a:ln>
          </p:spPr>
        </p:pic>
        <p:sp>
          <p:nvSpPr>
            <p:cNvPr id="254" name="Google Shape;254;p41"/>
            <p:cNvSpPr/>
            <p:nvPr/>
          </p:nvSpPr>
          <p:spPr>
            <a:xfrm>
              <a:off x="4401013" y="1590092"/>
              <a:ext cx="1657985" cy="876300"/>
            </a:xfrm>
            <a:custGeom>
              <a:rect b="b" l="l" r="r" t="t"/>
              <a:pathLst>
                <a:path extrusionOk="0" h="876300" w="1657985">
                  <a:moveTo>
                    <a:pt x="828907" y="876299"/>
                  </a:moveTo>
                  <a:lnTo>
                    <a:pt x="767044" y="875098"/>
                  </a:lnTo>
                  <a:lnTo>
                    <a:pt x="706417" y="871549"/>
                  </a:lnTo>
                  <a:lnTo>
                    <a:pt x="647184" y="865738"/>
                  </a:lnTo>
                  <a:lnTo>
                    <a:pt x="589507" y="857749"/>
                  </a:lnTo>
                  <a:lnTo>
                    <a:pt x="533546" y="847667"/>
                  </a:lnTo>
                  <a:lnTo>
                    <a:pt x="479460" y="835577"/>
                  </a:lnTo>
                  <a:lnTo>
                    <a:pt x="427411" y="821563"/>
                  </a:lnTo>
                  <a:lnTo>
                    <a:pt x="377558" y="805711"/>
                  </a:lnTo>
                  <a:lnTo>
                    <a:pt x="330062" y="788104"/>
                  </a:lnTo>
                  <a:lnTo>
                    <a:pt x="285083" y="768829"/>
                  </a:lnTo>
                  <a:lnTo>
                    <a:pt x="242781" y="747968"/>
                  </a:lnTo>
                  <a:lnTo>
                    <a:pt x="203317" y="725608"/>
                  </a:lnTo>
                  <a:lnTo>
                    <a:pt x="166850" y="701833"/>
                  </a:lnTo>
                  <a:lnTo>
                    <a:pt x="133542" y="676727"/>
                  </a:lnTo>
                  <a:lnTo>
                    <a:pt x="103552" y="650375"/>
                  </a:lnTo>
                  <a:lnTo>
                    <a:pt x="77040" y="622862"/>
                  </a:lnTo>
                  <a:lnTo>
                    <a:pt x="35095" y="564693"/>
                  </a:lnTo>
                  <a:lnTo>
                    <a:pt x="8987" y="502896"/>
                  </a:lnTo>
                  <a:lnTo>
                    <a:pt x="0" y="438149"/>
                  </a:lnTo>
                  <a:lnTo>
                    <a:pt x="2273" y="405450"/>
                  </a:lnTo>
                  <a:lnTo>
                    <a:pt x="19981" y="342093"/>
                  </a:lnTo>
                  <a:lnTo>
                    <a:pt x="54168" y="282025"/>
                  </a:lnTo>
                  <a:lnTo>
                    <a:pt x="103552" y="225924"/>
                  </a:lnTo>
                  <a:lnTo>
                    <a:pt x="133542" y="199572"/>
                  </a:lnTo>
                  <a:lnTo>
                    <a:pt x="166850" y="174466"/>
                  </a:lnTo>
                  <a:lnTo>
                    <a:pt x="203317" y="150691"/>
                  </a:lnTo>
                  <a:lnTo>
                    <a:pt x="242781" y="128331"/>
                  </a:lnTo>
                  <a:lnTo>
                    <a:pt x="285083" y="107470"/>
                  </a:lnTo>
                  <a:lnTo>
                    <a:pt x="330062" y="88195"/>
                  </a:lnTo>
                  <a:lnTo>
                    <a:pt x="377558" y="70588"/>
                  </a:lnTo>
                  <a:lnTo>
                    <a:pt x="427411" y="54736"/>
                  </a:lnTo>
                  <a:lnTo>
                    <a:pt x="479460" y="40722"/>
                  </a:lnTo>
                  <a:lnTo>
                    <a:pt x="533546" y="28632"/>
                  </a:lnTo>
                  <a:lnTo>
                    <a:pt x="589507" y="18550"/>
                  </a:lnTo>
                  <a:lnTo>
                    <a:pt x="647184" y="10561"/>
                  </a:lnTo>
                  <a:lnTo>
                    <a:pt x="706417" y="4750"/>
                  </a:lnTo>
                  <a:lnTo>
                    <a:pt x="767044" y="1201"/>
                  </a:lnTo>
                  <a:lnTo>
                    <a:pt x="828907" y="0"/>
                  </a:lnTo>
                  <a:lnTo>
                    <a:pt x="890769" y="1201"/>
                  </a:lnTo>
                  <a:lnTo>
                    <a:pt x="951397" y="4750"/>
                  </a:lnTo>
                  <a:lnTo>
                    <a:pt x="1010629" y="10561"/>
                  </a:lnTo>
                  <a:lnTo>
                    <a:pt x="1068306" y="18550"/>
                  </a:lnTo>
                  <a:lnTo>
                    <a:pt x="1124268" y="28632"/>
                  </a:lnTo>
                  <a:lnTo>
                    <a:pt x="1178353" y="40722"/>
                  </a:lnTo>
                  <a:lnTo>
                    <a:pt x="1230403" y="54736"/>
                  </a:lnTo>
                  <a:lnTo>
                    <a:pt x="1280256" y="70588"/>
                  </a:lnTo>
                  <a:lnTo>
                    <a:pt x="1327752" y="88195"/>
                  </a:lnTo>
                  <a:lnTo>
                    <a:pt x="1372731" y="107470"/>
                  </a:lnTo>
                  <a:lnTo>
                    <a:pt x="1415033" y="128331"/>
                  </a:lnTo>
                  <a:lnTo>
                    <a:pt x="1454497" y="150691"/>
                  </a:lnTo>
                  <a:lnTo>
                    <a:pt x="1490964" y="174466"/>
                  </a:lnTo>
                  <a:lnTo>
                    <a:pt x="1524272" y="199572"/>
                  </a:lnTo>
                  <a:lnTo>
                    <a:pt x="1554262" y="225924"/>
                  </a:lnTo>
                  <a:lnTo>
                    <a:pt x="1580774" y="253436"/>
                  </a:lnTo>
                  <a:lnTo>
                    <a:pt x="1622719" y="311606"/>
                  </a:lnTo>
                  <a:lnTo>
                    <a:pt x="1648827" y="373403"/>
                  </a:lnTo>
                  <a:lnTo>
                    <a:pt x="1657814" y="438149"/>
                  </a:lnTo>
                  <a:lnTo>
                    <a:pt x="1655541" y="470849"/>
                  </a:lnTo>
                  <a:lnTo>
                    <a:pt x="1637833" y="534206"/>
                  </a:lnTo>
                  <a:lnTo>
                    <a:pt x="1603646" y="594274"/>
                  </a:lnTo>
                  <a:lnTo>
                    <a:pt x="1554262" y="650375"/>
                  </a:lnTo>
                  <a:lnTo>
                    <a:pt x="1524272" y="676727"/>
                  </a:lnTo>
                  <a:lnTo>
                    <a:pt x="1490964" y="701833"/>
                  </a:lnTo>
                  <a:lnTo>
                    <a:pt x="1454497" y="725608"/>
                  </a:lnTo>
                  <a:lnTo>
                    <a:pt x="1415033" y="747968"/>
                  </a:lnTo>
                  <a:lnTo>
                    <a:pt x="1372731" y="768829"/>
                  </a:lnTo>
                  <a:lnTo>
                    <a:pt x="1327752" y="788104"/>
                  </a:lnTo>
                  <a:lnTo>
                    <a:pt x="1280256" y="805711"/>
                  </a:lnTo>
                  <a:lnTo>
                    <a:pt x="1230403" y="821563"/>
                  </a:lnTo>
                  <a:lnTo>
                    <a:pt x="1178353" y="835577"/>
                  </a:lnTo>
                  <a:lnTo>
                    <a:pt x="1124268" y="847667"/>
                  </a:lnTo>
                  <a:lnTo>
                    <a:pt x="1068306" y="857749"/>
                  </a:lnTo>
                  <a:lnTo>
                    <a:pt x="1010629" y="865738"/>
                  </a:lnTo>
                  <a:lnTo>
                    <a:pt x="951397" y="871549"/>
                  </a:lnTo>
                  <a:lnTo>
                    <a:pt x="890769" y="875098"/>
                  </a:lnTo>
                  <a:lnTo>
                    <a:pt x="828907" y="876299"/>
                  </a:lnTo>
                  <a:close/>
                </a:path>
              </a:pathLst>
            </a:custGeom>
            <a:solidFill>
              <a:srgbClr val="FFAB40">
                <a:alpha val="4901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5" name="Google Shape;255;p41"/>
            <p:cNvSpPr/>
            <p:nvPr/>
          </p:nvSpPr>
          <p:spPr>
            <a:xfrm>
              <a:off x="4401013" y="1590092"/>
              <a:ext cx="1657985" cy="876300"/>
            </a:xfrm>
            <a:custGeom>
              <a:rect b="b" l="l" r="r" t="t"/>
              <a:pathLst>
                <a:path extrusionOk="0" h="876300" w="1657985">
                  <a:moveTo>
                    <a:pt x="0" y="438149"/>
                  </a:moveTo>
                  <a:lnTo>
                    <a:pt x="2273" y="405450"/>
                  </a:lnTo>
                  <a:lnTo>
                    <a:pt x="8987" y="373403"/>
                  </a:lnTo>
                  <a:lnTo>
                    <a:pt x="35095" y="311606"/>
                  </a:lnTo>
                  <a:lnTo>
                    <a:pt x="77040" y="253436"/>
                  </a:lnTo>
                  <a:lnTo>
                    <a:pt x="103552" y="225924"/>
                  </a:lnTo>
                  <a:lnTo>
                    <a:pt x="133542" y="199572"/>
                  </a:lnTo>
                  <a:lnTo>
                    <a:pt x="166850" y="174466"/>
                  </a:lnTo>
                  <a:lnTo>
                    <a:pt x="203317" y="150691"/>
                  </a:lnTo>
                  <a:lnTo>
                    <a:pt x="242781" y="128331"/>
                  </a:lnTo>
                  <a:lnTo>
                    <a:pt x="285083" y="107470"/>
                  </a:lnTo>
                  <a:lnTo>
                    <a:pt x="330062" y="88195"/>
                  </a:lnTo>
                  <a:lnTo>
                    <a:pt x="377558" y="70588"/>
                  </a:lnTo>
                  <a:lnTo>
                    <a:pt x="427411" y="54736"/>
                  </a:lnTo>
                  <a:lnTo>
                    <a:pt x="479460" y="40722"/>
                  </a:lnTo>
                  <a:lnTo>
                    <a:pt x="533546" y="28632"/>
                  </a:lnTo>
                  <a:lnTo>
                    <a:pt x="589507" y="18550"/>
                  </a:lnTo>
                  <a:lnTo>
                    <a:pt x="647184" y="10561"/>
                  </a:lnTo>
                  <a:lnTo>
                    <a:pt x="706417" y="4750"/>
                  </a:lnTo>
                  <a:lnTo>
                    <a:pt x="767044" y="1201"/>
                  </a:lnTo>
                  <a:lnTo>
                    <a:pt x="828907" y="0"/>
                  </a:lnTo>
                  <a:lnTo>
                    <a:pt x="890769" y="1201"/>
                  </a:lnTo>
                  <a:lnTo>
                    <a:pt x="951397" y="4750"/>
                  </a:lnTo>
                  <a:lnTo>
                    <a:pt x="1010629" y="10561"/>
                  </a:lnTo>
                  <a:lnTo>
                    <a:pt x="1068306" y="18550"/>
                  </a:lnTo>
                  <a:lnTo>
                    <a:pt x="1124268" y="28632"/>
                  </a:lnTo>
                  <a:lnTo>
                    <a:pt x="1178353" y="40722"/>
                  </a:lnTo>
                  <a:lnTo>
                    <a:pt x="1230403" y="54736"/>
                  </a:lnTo>
                  <a:lnTo>
                    <a:pt x="1280256" y="70588"/>
                  </a:lnTo>
                  <a:lnTo>
                    <a:pt x="1327752" y="88195"/>
                  </a:lnTo>
                  <a:lnTo>
                    <a:pt x="1372731" y="107470"/>
                  </a:lnTo>
                  <a:lnTo>
                    <a:pt x="1415033" y="128331"/>
                  </a:lnTo>
                  <a:lnTo>
                    <a:pt x="1454497" y="150691"/>
                  </a:lnTo>
                  <a:lnTo>
                    <a:pt x="1490964" y="174466"/>
                  </a:lnTo>
                  <a:lnTo>
                    <a:pt x="1524272" y="199572"/>
                  </a:lnTo>
                  <a:lnTo>
                    <a:pt x="1554262" y="225924"/>
                  </a:lnTo>
                  <a:lnTo>
                    <a:pt x="1580774" y="253436"/>
                  </a:lnTo>
                  <a:lnTo>
                    <a:pt x="1622719" y="311606"/>
                  </a:lnTo>
                  <a:lnTo>
                    <a:pt x="1648827" y="373403"/>
                  </a:lnTo>
                  <a:lnTo>
                    <a:pt x="1657814" y="438149"/>
                  </a:lnTo>
                  <a:lnTo>
                    <a:pt x="1648827" y="502896"/>
                  </a:lnTo>
                  <a:lnTo>
                    <a:pt x="1622719" y="564693"/>
                  </a:lnTo>
                  <a:lnTo>
                    <a:pt x="1580774" y="622862"/>
                  </a:lnTo>
                  <a:lnTo>
                    <a:pt x="1554262" y="650375"/>
                  </a:lnTo>
                  <a:lnTo>
                    <a:pt x="1524272" y="676727"/>
                  </a:lnTo>
                  <a:lnTo>
                    <a:pt x="1490964" y="701833"/>
                  </a:lnTo>
                  <a:lnTo>
                    <a:pt x="1454497" y="725608"/>
                  </a:lnTo>
                  <a:lnTo>
                    <a:pt x="1415033" y="747968"/>
                  </a:lnTo>
                  <a:lnTo>
                    <a:pt x="1372731" y="768829"/>
                  </a:lnTo>
                  <a:lnTo>
                    <a:pt x="1327752" y="788104"/>
                  </a:lnTo>
                  <a:lnTo>
                    <a:pt x="1280256" y="805711"/>
                  </a:lnTo>
                  <a:lnTo>
                    <a:pt x="1230403" y="821563"/>
                  </a:lnTo>
                  <a:lnTo>
                    <a:pt x="1178353" y="835577"/>
                  </a:lnTo>
                  <a:lnTo>
                    <a:pt x="1124268" y="847667"/>
                  </a:lnTo>
                  <a:lnTo>
                    <a:pt x="1068306" y="857749"/>
                  </a:lnTo>
                  <a:lnTo>
                    <a:pt x="1010629" y="865738"/>
                  </a:lnTo>
                  <a:lnTo>
                    <a:pt x="951397" y="871549"/>
                  </a:lnTo>
                  <a:lnTo>
                    <a:pt x="890769" y="875098"/>
                  </a:lnTo>
                  <a:lnTo>
                    <a:pt x="828907" y="876299"/>
                  </a:lnTo>
                  <a:lnTo>
                    <a:pt x="767044" y="875098"/>
                  </a:lnTo>
                  <a:lnTo>
                    <a:pt x="706417" y="871549"/>
                  </a:lnTo>
                  <a:lnTo>
                    <a:pt x="647184" y="865738"/>
                  </a:lnTo>
                  <a:lnTo>
                    <a:pt x="589507" y="857749"/>
                  </a:lnTo>
                  <a:lnTo>
                    <a:pt x="533546" y="847667"/>
                  </a:lnTo>
                  <a:lnTo>
                    <a:pt x="479460" y="835577"/>
                  </a:lnTo>
                  <a:lnTo>
                    <a:pt x="427411" y="821563"/>
                  </a:lnTo>
                  <a:lnTo>
                    <a:pt x="377558" y="805711"/>
                  </a:lnTo>
                  <a:lnTo>
                    <a:pt x="330062" y="788104"/>
                  </a:lnTo>
                  <a:lnTo>
                    <a:pt x="285083" y="768829"/>
                  </a:lnTo>
                  <a:lnTo>
                    <a:pt x="242781" y="747968"/>
                  </a:lnTo>
                  <a:lnTo>
                    <a:pt x="203317" y="725608"/>
                  </a:lnTo>
                  <a:lnTo>
                    <a:pt x="166850" y="701833"/>
                  </a:lnTo>
                  <a:lnTo>
                    <a:pt x="133542" y="676727"/>
                  </a:lnTo>
                  <a:lnTo>
                    <a:pt x="103552" y="650375"/>
                  </a:lnTo>
                  <a:lnTo>
                    <a:pt x="77040" y="622862"/>
                  </a:lnTo>
                  <a:lnTo>
                    <a:pt x="35095" y="564693"/>
                  </a:lnTo>
                  <a:lnTo>
                    <a:pt x="8987" y="502896"/>
                  </a:lnTo>
                  <a:lnTo>
                    <a:pt x="2273" y="470849"/>
                  </a:lnTo>
                  <a:lnTo>
                    <a:pt x="0" y="438149"/>
                  </a:lnTo>
                  <a:close/>
                </a:path>
              </a:pathLst>
            </a:custGeom>
            <a:noFill/>
            <a:ln cap="flat" cmpd="sng" w="25375">
              <a:solidFill>
                <a:srgbClr val="BA7B2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9" name="Shape 259"/>
        <p:cNvGrpSpPr/>
        <p:nvPr/>
      </p:nvGrpSpPr>
      <p:grpSpPr>
        <a:xfrm>
          <a:off x="0" y="0"/>
          <a:ext cx="0" cy="0"/>
          <a:chOff x="0" y="0"/>
          <a:chExt cx="0" cy="0"/>
        </a:xfrm>
      </p:grpSpPr>
      <p:sp>
        <p:nvSpPr>
          <p:cNvPr id="260" name="Google Shape;260;p42"/>
          <p:cNvSpPr txBox="1"/>
          <p:nvPr/>
        </p:nvSpPr>
        <p:spPr>
          <a:xfrm>
            <a:off x="291330" y="1394307"/>
            <a:ext cx="3824604" cy="3495675"/>
          </a:xfrm>
          <a:prstGeom prst="rect">
            <a:avLst/>
          </a:prstGeom>
          <a:noFill/>
          <a:ln>
            <a:noFill/>
          </a:ln>
        </p:spPr>
        <p:txBody>
          <a:bodyPr anchorCtr="0" anchor="t" bIns="0" lIns="0" spcFirstLastPara="1" rIns="0" wrap="square" tIns="12700">
            <a:spAutoFit/>
          </a:bodyPr>
          <a:lstStyle/>
          <a:p>
            <a:pPr indent="-309244" lvl="0" marL="321310" marR="5080" rtl="0" algn="l">
              <a:lnSpc>
                <a:spcPct val="114999"/>
              </a:lnSpc>
              <a:spcBef>
                <a:spcPts val="0"/>
              </a:spcBef>
              <a:spcAft>
                <a:spcPts val="0"/>
              </a:spcAft>
              <a:buClr>
                <a:srgbClr val="595959"/>
              </a:buClr>
              <a:buSzPts val="1800"/>
              <a:buFont typeface="Arial"/>
              <a:buChar char="•"/>
            </a:pPr>
            <a:r>
              <a:rPr lang="en" sz="2200">
                <a:solidFill>
                  <a:srgbClr val="4E443C"/>
                </a:solidFill>
                <a:latin typeface="Arial"/>
                <a:ea typeface="Arial"/>
                <a:cs typeface="Arial"/>
                <a:sym typeface="Arial"/>
              </a:rPr>
              <a:t>The </a:t>
            </a:r>
            <a:r>
              <a:rPr b="1" lang="en" sz="2200">
                <a:solidFill>
                  <a:srgbClr val="4E443C"/>
                </a:solidFill>
                <a:latin typeface="Arial"/>
                <a:ea typeface="Arial"/>
                <a:cs typeface="Arial"/>
                <a:sym typeface="Arial"/>
              </a:rPr>
              <a:t>staging area </a:t>
            </a:r>
            <a:r>
              <a:rPr lang="en" sz="2200">
                <a:solidFill>
                  <a:srgbClr val="4E443C"/>
                </a:solidFill>
                <a:latin typeface="Arial"/>
                <a:ea typeface="Arial"/>
                <a:cs typeface="Arial"/>
                <a:sym typeface="Arial"/>
              </a:rPr>
              <a:t>is a file,  generally contained in your  Git directory, that stores  information about what will  go into your next commit. Its  technical name in Git  parlance is the “index”, but  the phrase “staging area”  works just as well.</a:t>
            </a:r>
            <a:endParaRPr sz="2200">
              <a:latin typeface="Arial"/>
              <a:ea typeface="Arial"/>
              <a:cs typeface="Arial"/>
              <a:sym typeface="Arial"/>
            </a:endParaRPr>
          </a:p>
        </p:txBody>
      </p:sp>
      <p:pic>
        <p:nvPicPr>
          <p:cNvPr id="261" name="Google Shape;261;p42"/>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62" name="Google Shape;262;p42"/>
          <p:cNvSpPr txBox="1"/>
          <p:nvPr>
            <p:ph type="title"/>
          </p:nvPr>
        </p:nvSpPr>
        <p:spPr>
          <a:xfrm>
            <a:off x="384725" y="638926"/>
            <a:ext cx="203263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rgbClr val="4E443C"/>
                </a:solidFill>
              </a:rPr>
              <a:t>Working tree</a:t>
            </a:r>
            <a:endParaRPr/>
          </a:p>
        </p:txBody>
      </p:sp>
      <p:grpSp>
        <p:nvGrpSpPr>
          <p:cNvPr id="263" name="Google Shape;263;p42"/>
          <p:cNvGrpSpPr/>
          <p:nvPr/>
        </p:nvGrpSpPr>
        <p:grpSpPr>
          <a:xfrm>
            <a:off x="4572000" y="1575223"/>
            <a:ext cx="4542613" cy="2720522"/>
            <a:chOff x="4572000" y="1575223"/>
            <a:chExt cx="4542613" cy="2720522"/>
          </a:xfrm>
        </p:grpSpPr>
        <p:pic>
          <p:nvPicPr>
            <p:cNvPr id="264" name="Google Shape;264;p42"/>
            <p:cNvPicPr preferRelativeResize="0"/>
            <p:nvPr/>
          </p:nvPicPr>
          <p:blipFill rotWithShape="1">
            <a:blip r:embed="rId4">
              <a:alphaModFix/>
            </a:blip>
            <a:srcRect b="0" l="0" r="0" t="0"/>
            <a:stretch/>
          </p:blipFill>
          <p:spPr>
            <a:xfrm>
              <a:off x="4572000" y="1791630"/>
              <a:ext cx="4542613" cy="2504115"/>
            </a:xfrm>
            <a:prstGeom prst="rect">
              <a:avLst/>
            </a:prstGeom>
            <a:noFill/>
            <a:ln>
              <a:noFill/>
            </a:ln>
          </p:spPr>
        </p:pic>
        <p:sp>
          <p:nvSpPr>
            <p:cNvPr id="265" name="Google Shape;265;p42"/>
            <p:cNvSpPr/>
            <p:nvPr/>
          </p:nvSpPr>
          <p:spPr>
            <a:xfrm>
              <a:off x="6006788" y="1575223"/>
              <a:ext cx="1657985" cy="876300"/>
            </a:xfrm>
            <a:custGeom>
              <a:rect b="b" l="l" r="r" t="t"/>
              <a:pathLst>
                <a:path extrusionOk="0" h="876300" w="1657984">
                  <a:moveTo>
                    <a:pt x="828907" y="876299"/>
                  </a:moveTo>
                  <a:lnTo>
                    <a:pt x="767045" y="875098"/>
                  </a:lnTo>
                  <a:lnTo>
                    <a:pt x="706417" y="871549"/>
                  </a:lnTo>
                  <a:lnTo>
                    <a:pt x="647185" y="865738"/>
                  </a:lnTo>
                  <a:lnTo>
                    <a:pt x="589508" y="857749"/>
                  </a:lnTo>
                  <a:lnTo>
                    <a:pt x="533546" y="847667"/>
                  </a:lnTo>
                  <a:lnTo>
                    <a:pt x="479461" y="835577"/>
                  </a:lnTo>
                  <a:lnTo>
                    <a:pt x="427411" y="821563"/>
                  </a:lnTo>
                  <a:lnTo>
                    <a:pt x="377558" y="805711"/>
                  </a:lnTo>
                  <a:lnTo>
                    <a:pt x="330062" y="788104"/>
                  </a:lnTo>
                  <a:lnTo>
                    <a:pt x="285083" y="768829"/>
                  </a:lnTo>
                  <a:lnTo>
                    <a:pt x="242781" y="747968"/>
                  </a:lnTo>
                  <a:lnTo>
                    <a:pt x="203317" y="725608"/>
                  </a:lnTo>
                  <a:lnTo>
                    <a:pt x="166850" y="701833"/>
                  </a:lnTo>
                  <a:lnTo>
                    <a:pt x="133542" y="676727"/>
                  </a:lnTo>
                  <a:lnTo>
                    <a:pt x="103552" y="650375"/>
                  </a:lnTo>
                  <a:lnTo>
                    <a:pt x="77040" y="622863"/>
                  </a:lnTo>
                  <a:lnTo>
                    <a:pt x="35095" y="564693"/>
                  </a:lnTo>
                  <a:lnTo>
                    <a:pt x="8987" y="502896"/>
                  </a:lnTo>
                  <a:lnTo>
                    <a:pt x="0" y="438149"/>
                  </a:lnTo>
                  <a:lnTo>
                    <a:pt x="2273" y="405450"/>
                  </a:lnTo>
                  <a:lnTo>
                    <a:pt x="19981" y="342093"/>
                  </a:lnTo>
                  <a:lnTo>
                    <a:pt x="54168" y="282025"/>
                  </a:lnTo>
                  <a:lnTo>
                    <a:pt x="103552" y="225924"/>
                  </a:lnTo>
                  <a:lnTo>
                    <a:pt x="133542" y="199572"/>
                  </a:lnTo>
                  <a:lnTo>
                    <a:pt x="166850" y="174466"/>
                  </a:lnTo>
                  <a:lnTo>
                    <a:pt x="203317" y="150691"/>
                  </a:lnTo>
                  <a:lnTo>
                    <a:pt x="242781" y="128331"/>
                  </a:lnTo>
                  <a:lnTo>
                    <a:pt x="285083" y="107470"/>
                  </a:lnTo>
                  <a:lnTo>
                    <a:pt x="330062" y="88195"/>
                  </a:lnTo>
                  <a:lnTo>
                    <a:pt x="377558" y="70588"/>
                  </a:lnTo>
                  <a:lnTo>
                    <a:pt x="427411" y="54736"/>
                  </a:lnTo>
                  <a:lnTo>
                    <a:pt x="479461" y="40722"/>
                  </a:lnTo>
                  <a:lnTo>
                    <a:pt x="533546" y="28632"/>
                  </a:lnTo>
                  <a:lnTo>
                    <a:pt x="589508" y="18550"/>
                  </a:lnTo>
                  <a:lnTo>
                    <a:pt x="647185" y="10561"/>
                  </a:lnTo>
                  <a:lnTo>
                    <a:pt x="706417" y="4750"/>
                  </a:lnTo>
                  <a:lnTo>
                    <a:pt x="767045" y="1201"/>
                  </a:lnTo>
                  <a:lnTo>
                    <a:pt x="828907" y="0"/>
                  </a:lnTo>
                  <a:lnTo>
                    <a:pt x="890770" y="1201"/>
                  </a:lnTo>
                  <a:lnTo>
                    <a:pt x="951397" y="4750"/>
                  </a:lnTo>
                  <a:lnTo>
                    <a:pt x="1010630" y="10561"/>
                  </a:lnTo>
                  <a:lnTo>
                    <a:pt x="1068307" y="18550"/>
                  </a:lnTo>
                  <a:lnTo>
                    <a:pt x="1124268" y="28632"/>
                  </a:lnTo>
                  <a:lnTo>
                    <a:pt x="1178354" y="40722"/>
                  </a:lnTo>
                  <a:lnTo>
                    <a:pt x="1230403" y="54736"/>
                  </a:lnTo>
                  <a:lnTo>
                    <a:pt x="1280256" y="70588"/>
                  </a:lnTo>
                  <a:lnTo>
                    <a:pt x="1327752" y="88195"/>
                  </a:lnTo>
                  <a:lnTo>
                    <a:pt x="1372731" y="107470"/>
                  </a:lnTo>
                  <a:lnTo>
                    <a:pt x="1415033" y="128331"/>
                  </a:lnTo>
                  <a:lnTo>
                    <a:pt x="1454498" y="150691"/>
                  </a:lnTo>
                  <a:lnTo>
                    <a:pt x="1490964" y="174466"/>
                  </a:lnTo>
                  <a:lnTo>
                    <a:pt x="1524273" y="199572"/>
                  </a:lnTo>
                  <a:lnTo>
                    <a:pt x="1554263" y="225924"/>
                  </a:lnTo>
                  <a:lnTo>
                    <a:pt x="1580774" y="253437"/>
                  </a:lnTo>
                  <a:lnTo>
                    <a:pt x="1622719" y="311606"/>
                  </a:lnTo>
                  <a:lnTo>
                    <a:pt x="1648827" y="373403"/>
                  </a:lnTo>
                  <a:lnTo>
                    <a:pt x="1657814" y="438149"/>
                  </a:lnTo>
                  <a:lnTo>
                    <a:pt x="1655541" y="470849"/>
                  </a:lnTo>
                  <a:lnTo>
                    <a:pt x="1637833" y="534206"/>
                  </a:lnTo>
                  <a:lnTo>
                    <a:pt x="1603646" y="594274"/>
                  </a:lnTo>
                  <a:lnTo>
                    <a:pt x="1554263" y="650375"/>
                  </a:lnTo>
                  <a:lnTo>
                    <a:pt x="1524273" y="676727"/>
                  </a:lnTo>
                  <a:lnTo>
                    <a:pt x="1490964" y="701833"/>
                  </a:lnTo>
                  <a:lnTo>
                    <a:pt x="1454498" y="725608"/>
                  </a:lnTo>
                  <a:lnTo>
                    <a:pt x="1415033" y="747968"/>
                  </a:lnTo>
                  <a:lnTo>
                    <a:pt x="1372731" y="768829"/>
                  </a:lnTo>
                  <a:lnTo>
                    <a:pt x="1327752" y="788104"/>
                  </a:lnTo>
                  <a:lnTo>
                    <a:pt x="1280256" y="805711"/>
                  </a:lnTo>
                  <a:lnTo>
                    <a:pt x="1230403" y="821563"/>
                  </a:lnTo>
                  <a:lnTo>
                    <a:pt x="1178354" y="835577"/>
                  </a:lnTo>
                  <a:lnTo>
                    <a:pt x="1124268" y="847667"/>
                  </a:lnTo>
                  <a:lnTo>
                    <a:pt x="1068307" y="857749"/>
                  </a:lnTo>
                  <a:lnTo>
                    <a:pt x="1010630" y="865738"/>
                  </a:lnTo>
                  <a:lnTo>
                    <a:pt x="951397" y="871549"/>
                  </a:lnTo>
                  <a:lnTo>
                    <a:pt x="890770" y="875098"/>
                  </a:lnTo>
                  <a:lnTo>
                    <a:pt x="828907" y="876299"/>
                  </a:lnTo>
                  <a:close/>
                </a:path>
              </a:pathLst>
            </a:custGeom>
            <a:solidFill>
              <a:srgbClr val="FFAB40">
                <a:alpha val="4901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6" name="Google Shape;266;p42"/>
            <p:cNvSpPr/>
            <p:nvPr/>
          </p:nvSpPr>
          <p:spPr>
            <a:xfrm>
              <a:off x="6006788" y="1575224"/>
              <a:ext cx="1657985" cy="876300"/>
            </a:xfrm>
            <a:custGeom>
              <a:rect b="b" l="l" r="r" t="t"/>
              <a:pathLst>
                <a:path extrusionOk="0" h="876300" w="1657984">
                  <a:moveTo>
                    <a:pt x="0" y="438149"/>
                  </a:moveTo>
                  <a:lnTo>
                    <a:pt x="2273" y="405450"/>
                  </a:lnTo>
                  <a:lnTo>
                    <a:pt x="8987" y="373403"/>
                  </a:lnTo>
                  <a:lnTo>
                    <a:pt x="35095" y="311606"/>
                  </a:lnTo>
                  <a:lnTo>
                    <a:pt x="77040" y="253437"/>
                  </a:lnTo>
                  <a:lnTo>
                    <a:pt x="103552" y="225924"/>
                  </a:lnTo>
                  <a:lnTo>
                    <a:pt x="133542" y="199572"/>
                  </a:lnTo>
                  <a:lnTo>
                    <a:pt x="166850" y="174466"/>
                  </a:lnTo>
                  <a:lnTo>
                    <a:pt x="203317" y="150691"/>
                  </a:lnTo>
                  <a:lnTo>
                    <a:pt x="242781" y="128331"/>
                  </a:lnTo>
                  <a:lnTo>
                    <a:pt x="285083" y="107470"/>
                  </a:lnTo>
                  <a:lnTo>
                    <a:pt x="330062" y="88195"/>
                  </a:lnTo>
                  <a:lnTo>
                    <a:pt x="377558" y="70588"/>
                  </a:lnTo>
                  <a:lnTo>
                    <a:pt x="427411" y="54736"/>
                  </a:lnTo>
                  <a:lnTo>
                    <a:pt x="479461" y="40722"/>
                  </a:lnTo>
                  <a:lnTo>
                    <a:pt x="533546" y="28632"/>
                  </a:lnTo>
                  <a:lnTo>
                    <a:pt x="589508" y="18550"/>
                  </a:lnTo>
                  <a:lnTo>
                    <a:pt x="647185" y="10561"/>
                  </a:lnTo>
                  <a:lnTo>
                    <a:pt x="706417" y="4750"/>
                  </a:lnTo>
                  <a:lnTo>
                    <a:pt x="767045" y="1201"/>
                  </a:lnTo>
                  <a:lnTo>
                    <a:pt x="828907" y="0"/>
                  </a:lnTo>
                  <a:lnTo>
                    <a:pt x="890770" y="1201"/>
                  </a:lnTo>
                  <a:lnTo>
                    <a:pt x="951397" y="4750"/>
                  </a:lnTo>
                  <a:lnTo>
                    <a:pt x="1010630" y="10561"/>
                  </a:lnTo>
                  <a:lnTo>
                    <a:pt x="1068307" y="18550"/>
                  </a:lnTo>
                  <a:lnTo>
                    <a:pt x="1124268" y="28632"/>
                  </a:lnTo>
                  <a:lnTo>
                    <a:pt x="1178354" y="40722"/>
                  </a:lnTo>
                  <a:lnTo>
                    <a:pt x="1230403" y="54736"/>
                  </a:lnTo>
                  <a:lnTo>
                    <a:pt x="1280256" y="70588"/>
                  </a:lnTo>
                  <a:lnTo>
                    <a:pt x="1327752" y="88195"/>
                  </a:lnTo>
                  <a:lnTo>
                    <a:pt x="1372731" y="107470"/>
                  </a:lnTo>
                  <a:lnTo>
                    <a:pt x="1415033" y="128331"/>
                  </a:lnTo>
                  <a:lnTo>
                    <a:pt x="1454498" y="150691"/>
                  </a:lnTo>
                  <a:lnTo>
                    <a:pt x="1490964" y="174466"/>
                  </a:lnTo>
                  <a:lnTo>
                    <a:pt x="1524273" y="199572"/>
                  </a:lnTo>
                  <a:lnTo>
                    <a:pt x="1554263" y="225924"/>
                  </a:lnTo>
                  <a:lnTo>
                    <a:pt x="1580774" y="253437"/>
                  </a:lnTo>
                  <a:lnTo>
                    <a:pt x="1622719" y="311606"/>
                  </a:lnTo>
                  <a:lnTo>
                    <a:pt x="1648827" y="373403"/>
                  </a:lnTo>
                  <a:lnTo>
                    <a:pt x="1657814" y="438149"/>
                  </a:lnTo>
                  <a:lnTo>
                    <a:pt x="1648827" y="502896"/>
                  </a:lnTo>
                  <a:lnTo>
                    <a:pt x="1622719" y="564693"/>
                  </a:lnTo>
                  <a:lnTo>
                    <a:pt x="1580774" y="622863"/>
                  </a:lnTo>
                  <a:lnTo>
                    <a:pt x="1554263" y="650375"/>
                  </a:lnTo>
                  <a:lnTo>
                    <a:pt x="1524273" y="676727"/>
                  </a:lnTo>
                  <a:lnTo>
                    <a:pt x="1490964" y="701833"/>
                  </a:lnTo>
                  <a:lnTo>
                    <a:pt x="1454498" y="725608"/>
                  </a:lnTo>
                  <a:lnTo>
                    <a:pt x="1415033" y="747968"/>
                  </a:lnTo>
                  <a:lnTo>
                    <a:pt x="1372731" y="768829"/>
                  </a:lnTo>
                  <a:lnTo>
                    <a:pt x="1327752" y="788104"/>
                  </a:lnTo>
                  <a:lnTo>
                    <a:pt x="1280256" y="805711"/>
                  </a:lnTo>
                  <a:lnTo>
                    <a:pt x="1230403" y="821563"/>
                  </a:lnTo>
                  <a:lnTo>
                    <a:pt x="1178354" y="835577"/>
                  </a:lnTo>
                  <a:lnTo>
                    <a:pt x="1124268" y="847667"/>
                  </a:lnTo>
                  <a:lnTo>
                    <a:pt x="1068307" y="857749"/>
                  </a:lnTo>
                  <a:lnTo>
                    <a:pt x="1010630" y="865738"/>
                  </a:lnTo>
                  <a:lnTo>
                    <a:pt x="951397" y="871549"/>
                  </a:lnTo>
                  <a:lnTo>
                    <a:pt x="890770" y="875098"/>
                  </a:lnTo>
                  <a:lnTo>
                    <a:pt x="828907" y="876299"/>
                  </a:lnTo>
                  <a:lnTo>
                    <a:pt x="767045" y="875098"/>
                  </a:lnTo>
                  <a:lnTo>
                    <a:pt x="706417" y="871549"/>
                  </a:lnTo>
                  <a:lnTo>
                    <a:pt x="647185" y="865738"/>
                  </a:lnTo>
                  <a:lnTo>
                    <a:pt x="589508" y="857749"/>
                  </a:lnTo>
                  <a:lnTo>
                    <a:pt x="533546" y="847667"/>
                  </a:lnTo>
                  <a:lnTo>
                    <a:pt x="479461" y="835577"/>
                  </a:lnTo>
                  <a:lnTo>
                    <a:pt x="427411" y="821563"/>
                  </a:lnTo>
                  <a:lnTo>
                    <a:pt x="377558" y="805711"/>
                  </a:lnTo>
                  <a:lnTo>
                    <a:pt x="330062" y="788104"/>
                  </a:lnTo>
                  <a:lnTo>
                    <a:pt x="285083" y="768829"/>
                  </a:lnTo>
                  <a:lnTo>
                    <a:pt x="242781" y="747968"/>
                  </a:lnTo>
                  <a:lnTo>
                    <a:pt x="203317" y="725608"/>
                  </a:lnTo>
                  <a:lnTo>
                    <a:pt x="166850" y="701833"/>
                  </a:lnTo>
                  <a:lnTo>
                    <a:pt x="133542" y="676727"/>
                  </a:lnTo>
                  <a:lnTo>
                    <a:pt x="103552" y="650375"/>
                  </a:lnTo>
                  <a:lnTo>
                    <a:pt x="77040" y="622863"/>
                  </a:lnTo>
                  <a:lnTo>
                    <a:pt x="35095" y="564693"/>
                  </a:lnTo>
                  <a:lnTo>
                    <a:pt x="8987" y="502896"/>
                  </a:lnTo>
                  <a:lnTo>
                    <a:pt x="2273" y="470849"/>
                  </a:lnTo>
                  <a:lnTo>
                    <a:pt x="0" y="438149"/>
                  </a:lnTo>
                  <a:close/>
                </a:path>
              </a:pathLst>
            </a:custGeom>
            <a:noFill/>
            <a:ln cap="flat" cmpd="sng" w="25375">
              <a:solidFill>
                <a:srgbClr val="BA7B2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0" name="Shape 270"/>
        <p:cNvGrpSpPr/>
        <p:nvPr/>
      </p:nvGrpSpPr>
      <p:grpSpPr>
        <a:xfrm>
          <a:off x="0" y="0"/>
          <a:ext cx="0" cy="0"/>
          <a:chOff x="0" y="0"/>
          <a:chExt cx="0" cy="0"/>
        </a:xfrm>
      </p:grpSpPr>
      <p:sp>
        <p:nvSpPr>
          <p:cNvPr id="271" name="Google Shape;271;p43"/>
          <p:cNvSpPr txBox="1"/>
          <p:nvPr/>
        </p:nvSpPr>
        <p:spPr>
          <a:xfrm>
            <a:off x="291330" y="1394307"/>
            <a:ext cx="3778250" cy="3495675"/>
          </a:xfrm>
          <a:prstGeom prst="rect">
            <a:avLst/>
          </a:prstGeom>
          <a:noFill/>
          <a:ln>
            <a:noFill/>
          </a:ln>
        </p:spPr>
        <p:txBody>
          <a:bodyPr anchorCtr="0" anchor="t" bIns="0" lIns="0" spcFirstLastPara="1" rIns="0" wrap="square" tIns="12700">
            <a:spAutoFit/>
          </a:bodyPr>
          <a:lstStyle/>
          <a:p>
            <a:pPr indent="-309244" lvl="0" marL="321310" marR="5080" rtl="0" algn="l">
              <a:lnSpc>
                <a:spcPct val="114999"/>
              </a:lnSpc>
              <a:spcBef>
                <a:spcPts val="0"/>
              </a:spcBef>
              <a:spcAft>
                <a:spcPts val="0"/>
              </a:spcAft>
              <a:buClr>
                <a:srgbClr val="595959"/>
              </a:buClr>
              <a:buSzPts val="1800"/>
              <a:buFont typeface="Arial"/>
              <a:buChar char="•"/>
            </a:pPr>
            <a:r>
              <a:rPr lang="en" sz="2200">
                <a:solidFill>
                  <a:srgbClr val="4E443C"/>
                </a:solidFill>
                <a:latin typeface="Arial"/>
                <a:ea typeface="Arial"/>
                <a:cs typeface="Arial"/>
                <a:sym typeface="Arial"/>
              </a:rPr>
              <a:t>The </a:t>
            </a:r>
            <a:r>
              <a:rPr b="1" lang="en" sz="2200">
                <a:solidFill>
                  <a:srgbClr val="4E443C"/>
                </a:solidFill>
                <a:latin typeface="Arial"/>
                <a:ea typeface="Arial"/>
                <a:cs typeface="Arial"/>
                <a:sym typeface="Arial"/>
              </a:rPr>
              <a:t>Git directory </a:t>
            </a:r>
            <a:r>
              <a:rPr lang="en" sz="2200">
                <a:solidFill>
                  <a:srgbClr val="4E443C"/>
                </a:solidFill>
                <a:latin typeface="Arial"/>
                <a:ea typeface="Arial"/>
                <a:cs typeface="Arial"/>
                <a:sym typeface="Arial"/>
              </a:rPr>
              <a:t>is where  Git stores the metadata and  object database for your  project.</a:t>
            </a:r>
            <a:endParaRPr sz="2200">
              <a:latin typeface="Arial"/>
              <a:ea typeface="Arial"/>
              <a:cs typeface="Arial"/>
              <a:sym typeface="Arial"/>
            </a:endParaRPr>
          </a:p>
          <a:p>
            <a:pPr indent="-309244" lvl="0" marL="321310" marR="161925" rtl="0" algn="l">
              <a:lnSpc>
                <a:spcPct val="114999"/>
              </a:lnSpc>
              <a:spcBef>
                <a:spcPts val="0"/>
              </a:spcBef>
              <a:spcAft>
                <a:spcPts val="0"/>
              </a:spcAft>
              <a:buClr>
                <a:srgbClr val="595959"/>
              </a:buClr>
              <a:buSzPts val="1800"/>
              <a:buFont typeface="Arial"/>
              <a:buChar char="•"/>
            </a:pPr>
            <a:r>
              <a:rPr lang="en" sz="2200">
                <a:solidFill>
                  <a:srgbClr val="4E443C"/>
                </a:solidFill>
                <a:latin typeface="Arial"/>
                <a:ea typeface="Arial"/>
                <a:cs typeface="Arial"/>
                <a:sym typeface="Arial"/>
              </a:rPr>
              <a:t>This is the most important  part of Git, and it is what is  copied when you </a:t>
            </a:r>
            <a:r>
              <a:rPr b="1" lang="en" sz="2200">
                <a:solidFill>
                  <a:srgbClr val="4E443C"/>
                </a:solidFill>
                <a:latin typeface="Arial"/>
                <a:ea typeface="Arial"/>
                <a:cs typeface="Arial"/>
                <a:sym typeface="Arial"/>
              </a:rPr>
              <a:t>clone </a:t>
            </a:r>
            <a:r>
              <a:rPr lang="en" sz="2200">
                <a:solidFill>
                  <a:srgbClr val="4E443C"/>
                </a:solidFill>
                <a:latin typeface="Arial"/>
                <a:ea typeface="Arial"/>
                <a:cs typeface="Arial"/>
                <a:sym typeface="Arial"/>
              </a:rPr>
              <a:t>a  repository from another  computer.</a:t>
            </a:r>
            <a:endParaRPr sz="2200">
              <a:latin typeface="Arial"/>
              <a:ea typeface="Arial"/>
              <a:cs typeface="Arial"/>
              <a:sym typeface="Arial"/>
            </a:endParaRPr>
          </a:p>
        </p:txBody>
      </p:sp>
      <p:pic>
        <p:nvPicPr>
          <p:cNvPr id="272" name="Google Shape;272;p43"/>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sp>
        <p:nvSpPr>
          <p:cNvPr id="273" name="Google Shape;273;p43"/>
          <p:cNvSpPr txBox="1"/>
          <p:nvPr>
            <p:ph type="title"/>
          </p:nvPr>
        </p:nvSpPr>
        <p:spPr>
          <a:xfrm>
            <a:off x="384725" y="638926"/>
            <a:ext cx="2032635"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rgbClr val="4E443C"/>
                </a:solidFill>
              </a:rPr>
              <a:t>Working tree</a:t>
            </a:r>
            <a:endParaRPr/>
          </a:p>
        </p:txBody>
      </p:sp>
      <p:grpSp>
        <p:nvGrpSpPr>
          <p:cNvPr id="274" name="Google Shape;274;p43"/>
          <p:cNvGrpSpPr/>
          <p:nvPr/>
        </p:nvGrpSpPr>
        <p:grpSpPr>
          <a:xfrm>
            <a:off x="4572000" y="1560356"/>
            <a:ext cx="4572030" cy="2735389"/>
            <a:chOff x="4572000" y="1560356"/>
            <a:chExt cx="4572030" cy="2735389"/>
          </a:xfrm>
        </p:grpSpPr>
        <p:pic>
          <p:nvPicPr>
            <p:cNvPr id="275" name="Google Shape;275;p43"/>
            <p:cNvPicPr preferRelativeResize="0"/>
            <p:nvPr/>
          </p:nvPicPr>
          <p:blipFill rotWithShape="1">
            <a:blip r:embed="rId4">
              <a:alphaModFix/>
            </a:blip>
            <a:srcRect b="0" l="0" r="0" t="0"/>
            <a:stretch/>
          </p:blipFill>
          <p:spPr>
            <a:xfrm>
              <a:off x="4572000" y="1791630"/>
              <a:ext cx="4542613" cy="2504115"/>
            </a:xfrm>
            <a:prstGeom prst="rect">
              <a:avLst/>
            </a:prstGeom>
            <a:noFill/>
            <a:ln>
              <a:noFill/>
            </a:ln>
          </p:spPr>
        </p:pic>
        <p:sp>
          <p:nvSpPr>
            <p:cNvPr id="276" name="Google Shape;276;p43"/>
            <p:cNvSpPr/>
            <p:nvPr/>
          </p:nvSpPr>
          <p:spPr>
            <a:xfrm>
              <a:off x="7567960" y="1560356"/>
              <a:ext cx="1576070" cy="876300"/>
            </a:xfrm>
            <a:custGeom>
              <a:rect b="b" l="l" r="r" t="t"/>
              <a:pathLst>
                <a:path extrusionOk="0" h="876300" w="1576070">
                  <a:moveTo>
                    <a:pt x="828907" y="876299"/>
                  </a:moveTo>
                  <a:lnTo>
                    <a:pt x="767045" y="875098"/>
                  </a:lnTo>
                  <a:lnTo>
                    <a:pt x="706417" y="871549"/>
                  </a:lnTo>
                  <a:lnTo>
                    <a:pt x="647185" y="865738"/>
                  </a:lnTo>
                  <a:lnTo>
                    <a:pt x="589508" y="857749"/>
                  </a:lnTo>
                  <a:lnTo>
                    <a:pt x="533546" y="847667"/>
                  </a:lnTo>
                  <a:lnTo>
                    <a:pt x="479461" y="835577"/>
                  </a:lnTo>
                  <a:lnTo>
                    <a:pt x="427411" y="821563"/>
                  </a:lnTo>
                  <a:lnTo>
                    <a:pt x="377558" y="805711"/>
                  </a:lnTo>
                  <a:lnTo>
                    <a:pt x="330062" y="788104"/>
                  </a:lnTo>
                  <a:lnTo>
                    <a:pt x="285083" y="768829"/>
                  </a:lnTo>
                  <a:lnTo>
                    <a:pt x="242781" y="747968"/>
                  </a:lnTo>
                  <a:lnTo>
                    <a:pt x="203317" y="725608"/>
                  </a:lnTo>
                  <a:lnTo>
                    <a:pt x="166850" y="701833"/>
                  </a:lnTo>
                  <a:lnTo>
                    <a:pt x="133542" y="676727"/>
                  </a:lnTo>
                  <a:lnTo>
                    <a:pt x="103552" y="650375"/>
                  </a:lnTo>
                  <a:lnTo>
                    <a:pt x="77040" y="622863"/>
                  </a:lnTo>
                  <a:lnTo>
                    <a:pt x="35095" y="564693"/>
                  </a:lnTo>
                  <a:lnTo>
                    <a:pt x="8987" y="502896"/>
                  </a:lnTo>
                  <a:lnTo>
                    <a:pt x="0" y="438149"/>
                  </a:lnTo>
                  <a:lnTo>
                    <a:pt x="2273" y="405450"/>
                  </a:lnTo>
                  <a:lnTo>
                    <a:pt x="19981" y="342093"/>
                  </a:lnTo>
                  <a:lnTo>
                    <a:pt x="54168" y="282025"/>
                  </a:lnTo>
                  <a:lnTo>
                    <a:pt x="103552" y="225924"/>
                  </a:lnTo>
                  <a:lnTo>
                    <a:pt x="133542" y="199572"/>
                  </a:lnTo>
                  <a:lnTo>
                    <a:pt x="166850" y="174466"/>
                  </a:lnTo>
                  <a:lnTo>
                    <a:pt x="203317" y="150691"/>
                  </a:lnTo>
                  <a:lnTo>
                    <a:pt x="242781" y="128331"/>
                  </a:lnTo>
                  <a:lnTo>
                    <a:pt x="285083" y="107470"/>
                  </a:lnTo>
                  <a:lnTo>
                    <a:pt x="330062" y="88195"/>
                  </a:lnTo>
                  <a:lnTo>
                    <a:pt x="377558" y="70588"/>
                  </a:lnTo>
                  <a:lnTo>
                    <a:pt x="427411" y="54736"/>
                  </a:lnTo>
                  <a:lnTo>
                    <a:pt x="479461" y="40722"/>
                  </a:lnTo>
                  <a:lnTo>
                    <a:pt x="533546" y="28632"/>
                  </a:lnTo>
                  <a:lnTo>
                    <a:pt x="589508" y="18550"/>
                  </a:lnTo>
                  <a:lnTo>
                    <a:pt x="647185" y="10561"/>
                  </a:lnTo>
                  <a:lnTo>
                    <a:pt x="706417" y="4750"/>
                  </a:lnTo>
                  <a:lnTo>
                    <a:pt x="767045" y="1201"/>
                  </a:lnTo>
                  <a:lnTo>
                    <a:pt x="828907" y="0"/>
                  </a:lnTo>
                  <a:lnTo>
                    <a:pt x="890770" y="1201"/>
                  </a:lnTo>
                  <a:lnTo>
                    <a:pt x="951397" y="4750"/>
                  </a:lnTo>
                  <a:lnTo>
                    <a:pt x="1010630" y="10561"/>
                  </a:lnTo>
                  <a:lnTo>
                    <a:pt x="1068307" y="18550"/>
                  </a:lnTo>
                  <a:lnTo>
                    <a:pt x="1124268" y="28632"/>
                  </a:lnTo>
                  <a:lnTo>
                    <a:pt x="1178354" y="40722"/>
                  </a:lnTo>
                  <a:lnTo>
                    <a:pt x="1230403" y="54736"/>
                  </a:lnTo>
                  <a:lnTo>
                    <a:pt x="1280256" y="70588"/>
                  </a:lnTo>
                  <a:lnTo>
                    <a:pt x="1327752" y="88195"/>
                  </a:lnTo>
                  <a:lnTo>
                    <a:pt x="1372731" y="107470"/>
                  </a:lnTo>
                  <a:lnTo>
                    <a:pt x="1415033" y="128331"/>
                  </a:lnTo>
                  <a:lnTo>
                    <a:pt x="1454497" y="150691"/>
                  </a:lnTo>
                  <a:lnTo>
                    <a:pt x="1490964" y="174466"/>
                  </a:lnTo>
                  <a:lnTo>
                    <a:pt x="1524272" y="199572"/>
                  </a:lnTo>
                  <a:lnTo>
                    <a:pt x="1554262" y="225924"/>
                  </a:lnTo>
                  <a:lnTo>
                    <a:pt x="1576038" y="248523"/>
                  </a:lnTo>
                  <a:lnTo>
                    <a:pt x="1576038" y="627776"/>
                  </a:lnTo>
                  <a:lnTo>
                    <a:pt x="1524272" y="676727"/>
                  </a:lnTo>
                  <a:lnTo>
                    <a:pt x="1490964" y="701833"/>
                  </a:lnTo>
                  <a:lnTo>
                    <a:pt x="1454497" y="725608"/>
                  </a:lnTo>
                  <a:lnTo>
                    <a:pt x="1415033" y="747968"/>
                  </a:lnTo>
                  <a:lnTo>
                    <a:pt x="1372731" y="768829"/>
                  </a:lnTo>
                  <a:lnTo>
                    <a:pt x="1327752" y="788104"/>
                  </a:lnTo>
                  <a:lnTo>
                    <a:pt x="1280256" y="805711"/>
                  </a:lnTo>
                  <a:lnTo>
                    <a:pt x="1230403" y="821563"/>
                  </a:lnTo>
                  <a:lnTo>
                    <a:pt x="1178354" y="835577"/>
                  </a:lnTo>
                  <a:lnTo>
                    <a:pt x="1124268" y="847667"/>
                  </a:lnTo>
                  <a:lnTo>
                    <a:pt x="1068307" y="857749"/>
                  </a:lnTo>
                  <a:lnTo>
                    <a:pt x="1010630" y="865738"/>
                  </a:lnTo>
                  <a:lnTo>
                    <a:pt x="951397" y="871549"/>
                  </a:lnTo>
                  <a:lnTo>
                    <a:pt x="890770" y="875098"/>
                  </a:lnTo>
                  <a:lnTo>
                    <a:pt x="828907" y="876299"/>
                  </a:lnTo>
                  <a:close/>
                </a:path>
              </a:pathLst>
            </a:custGeom>
            <a:solidFill>
              <a:srgbClr val="FFAB40">
                <a:alpha val="4901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7" name="Google Shape;277;p43"/>
            <p:cNvSpPr/>
            <p:nvPr/>
          </p:nvSpPr>
          <p:spPr>
            <a:xfrm>
              <a:off x="7567960" y="1560356"/>
              <a:ext cx="1576070" cy="876300"/>
            </a:xfrm>
            <a:custGeom>
              <a:rect b="b" l="l" r="r" t="t"/>
              <a:pathLst>
                <a:path extrusionOk="0" h="876300" w="1576070">
                  <a:moveTo>
                    <a:pt x="0" y="438149"/>
                  </a:moveTo>
                  <a:lnTo>
                    <a:pt x="8987" y="373403"/>
                  </a:lnTo>
                  <a:lnTo>
                    <a:pt x="35095" y="311606"/>
                  </a:lnTo>
                  <a:lnTo>
                    <a:pt x="77040" y="253437"/>
                  </a:lnTo>
                  <a:lnTo>
                    <a:pt x="103552" y="225924"/>
                  </a:lnTo>
                  <a:lnTo>
                    <a:pt x="133542" y="199572"/>
                  </a:lnTo>
                  <a:lnTo>
                    <a:pt x="166850" y="174466"/>
                  </a:lnTo>
                  <a:lnTo>
                    <a:pt x="203317" y="150691"/>
                  </a:lnTo>
                  <a:lnTo>
                    <a:pt x="242781" y="128331"/>
                  </a:lnTo>
                  <a:lnTo>
                    <a:pt x="285083" y="107470"/>
                  </a:lnTo>
                  <a:lnTo>
                    <a:pt x="330062" y="88195"/>
                  </a:lnTo>
                  <a:lnTo>
                    <a:pt x="377558" y="70588"/>
                  </a:lnTo>
                  <a:lnTo>
                    <a:pt x="427411" y="54736"/>
                  </a:lnTo>
                  <a:lnTo>
                    <a:pt x="479461" y="40722"/>
                  </a:lnTo>
                  <a:lnTo>
                    <a:pt x="533546" y="28632"/>
                  </a:lnTo>
                  <a:lnTo>
                    <a:pt x="589508" y="18550"/>
                  </a:lnTo>
                  <a:lnTo>
                    <a:pt x="647185" y="10561"/>
                  </a:lnTo>
                  <a:lnTo>
                    <a:pt x="706417" y="4750"/>
                  </a:lnTo>
                  <a:lnTo>
                    <a:pt x="767045" y="1201"/>
                  </a:lnTo>
                  <a:lnTo>
                    <a:pt x="828907" y="0"/>
                  </a:lnTo>
                  <a:lnTo>
                    <a:pt x="890770" y="1201"/>
                  </a:lnTo>
                  <a:lnTo>
                    <a:pt x="951397" y="4750"/>
                  </a:lnTo>
                  <a:lnTo>
                    <a:pt x="1010630" y="10561"/>
                  </a:lnTo>
                  <a:lnTo>
                    <a:pt x="1068307" y="18550"/>
                  </a:lnTo>
                  <a:lnTo>
                    <a:pt x="1124268" y="28632"/>
                  </a:lnTo>
                  <a:lnTo>
                    <a:pt x="1178354" y="40722"/>
                  </a:lnTo>
                  <a:lnTo>
                    <a:pt x="1230403" y="54736"/>
                  </a:lnTo>
                  <a:lnTo>
                    <a:pt x="1280256" y="70588"/>
                  </a:lnTo>
                  <a:lnTo>
                    <a:pt x="1327752" y="88195"/>
                  </a:lnTo>
                  <a:lnTo>
                    <a:pt x="1372731" y="107470"/>
                  </a:lnTo>
                  <a:lnTo>
                    <a:pt x="1415033" y="128331"/>
                  </a:lnTo>
                  <a:lnTo>
                    <a:pt x="1454497" y="150691"/>
                  </a:lnTo>
                  <a:lnTo>
                    <a:pt x="1490964" y="174466"/>
                  </a:lnTo>
                  <a:lnTo>
                    <a:pt x="1524272" y="199572"/>
                  </a:lnTo>
                  <a:lnTo>
                    <a:pt x="1554262" y="225924"/>
                  </a:lnTo>
                  <a:lnTo>
                    <a:pt x="1576038" y="248523"/>
                  </a:lnTo>
                </a:path>
                <a:path extrusionOk="0" h="876300" w="1576070">
                  <a:moveTo>
                    <a:pt x="1576038" y="627776"/>
                  </a:moveTo>
                  <a:lnTo>
                    <a:pt x="1524272" y="676727"/>
                  </a:lnTo>
                  <a:lnTo>
                    <a:pt x="1490964" y="701833"/>
                  </a:lnTo>
                  <a:lnTo>
                    <a:pt x="1454497" y="725608"/>
                  </a:lnTo>
                  <a:lnTo>
                    <a:pt x="1415033" y="747968"/>
                  </a:lnTo>
                  <a:lnTo>
                    <a:pt x="1372731" y="768829"/>
                  </a:lnTo>
                  <a:lnTo>
                    <a:pt x="1327752" y="788104"/>
                  </a:lnTo>
                  <a:lnTo>
                    <a:pt x="1280256" y="805711"/>
                  </a:lnTo>
                  <a:lnTo>
                    <a:pt x="1230403" y="821563"/>
                  </a:lnTo>
                  <a:lnTo>
                    <a:pt x="1178354" y="835577"/>
                  </a:lnTo>
                  <a:lnTo>
                    <a:pt x="1124268" y="847667"/>
                  </a:lnTo>
                  <a:lnTo>
                    <a:pt x="1068307" y="857749"/>
                  </a:lnTo>
                  <a:lnTo>
                    <a:pt x="1010630" y="865738"/>
                  </a:lnTo>
                  <a:lnTo>
                    <a:pt x="951397" y="871549"/>
                  </a:lnTo>
                  <a:lnTo>
                    <a:pt x="890770" y="875098"/>
                  </a:lnTo>
                  <a:lnTo>
                    <a:pt x="828907" y="876299"/>
                  </a:lnTo>
                  <a:lnTo>
                    <a:pt x="767045" y="875098"/>
                  </a:lnTo>
                  <a:lnTo>
                    <a:pt x="706417" y="871549"/>
                  </a:lnTo>
                  <a:lnTo>
                    <a:pt x="647185" y="865738"/>
                  </a:lnTo>
                  <a:lnTo>
                    <a:pt x="589508" y="857749"/>
                  </a:lnTo>
                  <a:lnTo>
                    <a:pt x="533546" y="847667"/>
                  </a:lnTo>
                  <a:lnTo>
                    <a:pt x="479461" y="835577"/>
                  </a:lnTo>
                  <a:lnTo>
                    <a:pt x="427411" y="821563"/>
                  </a:lnTo>
                  <a:lnTo>
                    <a:pt x="377558" y="805711"/>
                  </a:lnTo>
                  <a:lnTo>
                    <a:pt x="330062" y="788104"/>
                  </a:lnTo>
                  <a:lnTo>
                    <a:pt x="285083" y="768829"/>
                  </a:lnTo>
                  <a:lnTo>
                    <a:pt x="242781" y="747968"/>
                  </a:lnTo>
                  <a:lnTo>
                    <a:pt x="203317" y="725608"/>
                  </a:lnTo>
                  <a:lnTo>
                    <a:pt x="166850" y="701833"/>
                  </a:lnTo>
                  <a:lnTo>
                    <a:pt x="133542" y="676727"/>
                  </a:lnTo>
                  <a:lnTo>
                    <a:pt x="103552" y="650375"/>
                  </a:lnTo>
                  <a:lnTo>
                    <a:pt x="77040" y="622863"/>
                  </a:lnTo>
                  <a:lnTo>
                    <a:pt x="35095" y="564693"/>
                  </a:lnTo>
                  <a:lnTo>
                    <a:pt x="8987" y="502896"/>
                  </a:lnTo>
                  <a:lnTo>
                    <a:pt x="2273" y="470849"/>
                  </a:lnTo>
                  <a:lnTo>
                    <a:pt x="0" y="438149"/>
                  </a:lnTo>
                </a:path>
              </a:pathLst>
            </a:custGeom>
            <a:noFill/>
            <a:ln cap="flat" cmpd="sng" w="25375">
              <a:solidFill>
                <a:srgbClr val="BA7B2E"/>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1" name="Shape 281"/>
        <p:cNvGrpSpPr/>
        <p:nvPr/>
      </p:nvGrpSpPr>
      <p:grpSpPr>
        <a:xfrm>
          <a:off x="0" y="0"/>
          <a:ext cx="0" cy="0"/>
          <a:chOff x="0" y="0"/>
          <a:chExt cx="0" cy="0"/>
        </a:xfrm>
      </p:grpSpPr>
      <p:sp>
        <p:nvSpPr>
          <p:cNvPr id="282" name="Google Shape;282;p44"/>
          <p:cNvSpPr txBox="1"/>
          <p:nvPr/>
        </p:nvSpPr>
        <p:spPr>
          <a:xfrm>
            <a:off x="180714" y="1290231"/>
            <a:ext cx="5761355" cy="3110230"/>
          </a:xfrm>
          <a:prstGeom prst="rect">
            <a:avLst/>
          </a:prstGeom>
          <a:noFill/>
          <a:ln>
            <a:noFill/>
          </a:ln>
        </p:spPr>
        <p:txBody>
          <a:bodyPr anchorCtr="0" anchor="t" bIns="0" lIns="0" spcFirstLastPara="1" rIns="0" wrap="square" tIns="62850">
            <a:spAutoFit/>
          </a:bodyPr>
          <a:lstStyle/>
          <a:p>
            <a:pPr indent="-419733" lvl="0" marL="431800" marR="0" rtl="0" algn="l">
              <a:lnSpc>
                <a:spcPct val="100000"/>
              </a:lnSpc>
              <a:spcBef>
                <a:spcPts val="0"/>
              </a:spcBef>
              <a:spcAft>
                <a:spcPts val="0"/>
              </a:spcAft>
              <a:buClr>
                <a:srgbClr val="595959"/>
              </a:buClr>
              <a:buSzPts val="1800"/>
              <a:buFont typeface="Arial"/>
              <a:buAutoNum type="arabicPeriod"/>
            </a:pPr>
            <a:r>
              <a:rPr lang="en" sz="2200">
                <a:solidFill>
                  <a:srgbClr val="4E443C"/>
                </a:solidFill>
                <a:latin typeface="Arial"/>
                <a:ea typeface="Arial"/>
                <a:cs typeface="Arial"/>
                <a:sym typeface="Arial"/>
              </a:rPr>
              <a:t>You modify files in your working tree.</a:t>
            </a:r>
            <a:endParaRPr sz="2200">
              <a:latin typeface="Arial"/>
              <a:ea typeface="Arial"/>
              <a:cs typeface="Arial"/>
              <a:sym typeface="Arial"/>
            </a:endParaRPr>
          </a:p>
          <a:p>
            <a:pPr indent="-419733" lvl="0" marL="431800" marR="318770" rtl="0" algn="l">
              <a:lnSpc>
                <a:spcPct val="114999"/>
              </a:lnSpc>
              <a:spcBef>
                <a:spcPts val="0"/>
              </a:spcBef>
              <a:spcAft>
                <a:spcPts val="0"/>
              </a:spcAft>
              <a:buClr>
                <a:srgbClr val="595959"/>
              </a:buClr>
              <a:buSzPts val="1800"/>
              <a:buFont typeface="Arial"/>
              <a:buAutoNum type="arabicPeriod"/>
            </a:pPr>
            <a:r>
              <a:rPr lang="en" sz="2200">
                <a:solidFill>
                  <a:srgbClr val="4E443C"/>
                </a:solidFill>
                <a:latin typeface="Arial"/>
                <a:ea typeface="Arial"/>
                <a:cs typeface="Arial"/>
                <a:sym typeface="Arial"/>
              </a:rPr>
              <a:t>You selectively stage just those changes  you want to be part of your next commit,  which adds </a:t>
            </a:r>
            <a:r>
              <a:rPr b="1" lang="en" sz="2200">
                <a:solidFill>
                  <a:srgbClr val="4E443C"/>
                </a:solidFill>
                <a:latin typeface="Arial"/>
                <a:ea typeface="Arial"/>
                <a:cs typeface="Arial"/>
                <a:sym typeface="Arial"/>
              </a:rPr>
              <a:t>only </a:t>
            </a:r>
            <a:r>
              <a:rPr lang="en" sz="2200">
                <a:solidFill>
                  <a:srgbClr val="4E443C"/>
                </a:solidFill>
                <a:latin typeface="Arial"/>
                <a:ea typeface="Arial"/>
                <a:cs typeface="Arial"/>
                <a:sym typeface="Arial"/>
              </a:rPr>
              <a:t>those changes to the  staging area.</a:t>
            </a:r>
            <a:endParaRPr sz="2200">
              <a:latin typeface="Arial"/>
              <a:ea typeface="Arial"/>
              <a:cs typeface="Arial"/>
              <a:sym typeface="Arial"/>
            </a:endParaRPr>
          </a:p>
          <a:p>
            <a:pPr indent="-419733" lvl="0" marL="431800" marR="5080" rtl="0" algn="l">
              <a:lnSpc>
                <a:spcPct val="114999"/>
              </a:lnSpc>
              <a:spcBef>
                <a:spcPts val="0"/>
              </a:spcBef>
              <a:spcAft>
                <a:spcPts val="0"/>
              </a:spcAft>
              <a:buClr>
                <a:srgbClr val="595959"/>
              </a:buClr>
              <a:buSzPts val="1800"/>
              <a:buFont typeface="Arial"/>
              <a:buAutoNum type="arabicPeriod"/>
            </a:pPr>
            <a:r>
              <a:rPr lang="en" sz="2200">
                <a:solidFill>
                  <a:srgbClr val="4E443C"/>
                </a:solidFill>
                <a:latin typeface="Arial"/>
                <a:ea typeface="Arial"/>
                <a:cs typeface="Arial"/>
                <a:sym typeface="Arial"/>
              </a:rPr>
              <a:t>You do a commit, which takes the files as  they are in the staging area and stores that  snapshot permanently to your Git directory.</a:t>
            </a:r>
            <a:endParaRPr sz="2200">
              <a:latin typeface="Arial"/>
              <a:ea typeface="Arial"/>
              <a:cs typeface="Arial"/>
              <a:sym typeface="Arial"/>
            </a:endParaRPr>
          </a:p>
        </p:txBody>
      </p:sp>
      <p:grpSp>
        <p:nvGrpSpPr>
          <p:cNvPr id="283" name="Google Shape;283;p44"/>
          <p:cNvGrpSpPr/>
          <p:nvPr/>
        </p:nvGrpSpPr>
        <p:grpSpPr>
          <a:xfrm>
            <a:off x="6063432" y="305447"/>
            <a:ext cx="2943922" cy="3679254"/>
            <a:chOff x="6063432" y="305447"/>
            <a:chExt cx="2943922" cy="3679254"/>
          </a:xfrm>
        </p:grpSpPr>
        <p:pic>
          <p:nvPicPr>
            <p:cNvPr id="284" name="Google Shape;284;p44"/>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pic>
          <p:nvPicPr>
            <p:cNvPr id="285" name="Google Shape;285;p44"/>
            <p:cNvPicPr preferRelativeResize="0"/>
            <p:nvPr/>
          </p:nvPicPr>
          <p:blipFill rotWithShape="1">
            <a:blip r:embed="rId4">
              <a:alphaModFix/>
            </a:blip>
            <a:srcRect b="0" l="0" r="0" t="0"/>
            <a:stretch/>
          </p:blipFill>
          <p:spPr>
            <a:xfrm>
              <a:off x="6063432" y="1040780"/>
              <a:ext cx="2943922" cy="2943921"/>
            </a:xfrm>
            <a:prstGeom prst="rect">
              <a:avLst/>
            </a:prstGeom>
            <a:noFill/>
            <a:ln>
              <a:noFill/>
            </a:ln>
          </p:spPr>
        </p:pic>
      </p:grpSp>
      <p:sp>
        <p:nvSpPr>
          <p:cNvPr id="286" name="Google Shape;286;p44"/>
          <p:cNvSpPr txBox="1"/>
          <p:nvPr>
            <p:ph type="title"/>
          </p:nvPr>
        </p:nvSpPr>
        <p:spPr>
          <a:xfrm>
            <a:off x="384725" y="638926"/>
            <a:ext cx="195961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rgbClr val="4E443C"/>
                </a:solidFill>
              </a:rPr>
              <a:t>Git workflow</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0" name="Shape 290"/>
        <p:cNvGrpSpPr/>
        <p:nvPr/>
      </p:nvGrpSpPr>
      <p:grpSpPr>
        <a:xfrm>
          <a:off x="0" y="0"/>
          <a:ext cx="0" cy="0"/>
          <a:chOff x="0" y="0"/>
          <a:chExt cx="0" cy="0"/>
        </a:xfrm>
      </p:grpSpPr>
      <p:sp>
        <p:nvSpPr>
          <p:cNvPr id="291" name="Google Shape;291;p45"/>
          <p:cNvSpPr txBox="1"/>
          <p:nvPr/>
        </p:nvSpPr>
        <p:spPr>
          <a:xfrm>
            <a:off x="233287" y="1284642"/>
            <a:ext cx="5709920" cy="3390900"/>
          </a:xfrm>
          <a:prstGeom prst="rect">
            <a:avLst/>
          </a:prstGeom>
          <a:noFill/>
          <a:ln>
            <a:noFill/>
          </a:ln>
        </p:spPr>
        <p:txBody>
          <a:bodyPr anchorCtr="0" anchor="t" bIns="0" lIns="0" spcFirstLastPara="1" rIns="0" wrap="square" tIns="12700">
            <a:spAutoFit/>
          </a:bodyPr>
          <a:lstStyle/>
          <a:p>
            <a:pPr indent="-367030" lvl="0" marL="379095" marR="299085" rtl="0" algn="l">
              <a:lnSpc>
                <a:spcPct val="114999"/>
              </a:lnSpc>
              <a:spcBef>
                <a:spcPts val="0"/>
              </a:spcBef>
              <a:spcAft>
                <a:spcPts val="0"/>
              </a:spcAft>
              <a:buClr>
                <a:srgbClr val="595959"/>
              </a:buClr>
              <a:buSzPts val="1800"/>
              <a:buFont typeface="Arial"/>
              <a:buChar char="●"/>
            </a:pPr>
            <a:r>
              <a:rPr lang="en" sz="2400">
                <a:solidFill>
                  <a:srgbClr val="4E443C"/>
                </a:solidFill>
                <a:latin typeface="Arial"/>
                <a:ea typeface="Arial"/>
                <a:cs typeface="Arial"/>
                <a:sym typeface="Arial"/>
              </a:rPr>
              <a:t>If a particular version of a file is in the  Git directory, it’s</a:t>
            </a:r>
            <a:endParaRPr sz="2400">
              <a:latin typeface="Arial"/>
              <a:ea typeface="Arial"/>
              <a:cs typeface="Arial"/>
              <a:sym typeface="Arial"/>
            </a:endParaRPr>
          </a:p>
          <a:p>
            <a:pPr indent="0" lvl="0" marL="379095" marR="0" rtl="0" algn="l">
              <a:lnSpc>
                <a:spcPct val="100000"/>
              </a:lnSpc>
              <a:spcBef>
                <a:spcPts val="430"/>
              </a:spcBef>
              <a:spcAft>
                <a:spcPts val="0"/>
              </a:spcAft>
              <a:buNone/>
            </a:pPr>
            <a:r>
              <a:rPr lang="en" sz="2400">
                <a:solidFill>
                  <a:srgbClr val="4E443C"/>
                </a:solidFill>
                <a:latin typeface="Arial"/>
                <a:ea typeface="Arial"/>
                <a:cs typeface="Arial"/>
                <a:sym typeface="Arial"/>
              </a:rPr>
              <a:t>considered </a:t>
            </a:r>
            <a:r>
              <a:rPr b="1" lang="en" sz="2400">
                <a:solidFill>
                  <a:srgbClr val="4E443C"/>
                </a:solidFill>
                <a:latin typeface="Arial"/>
                <a:ea typeface="Arial"/>
                <a:cs typeface="Arial"/>
                <a:sym typeface="Arial"/>
              </a:rPr>
              <a:t>committed</a:t>
            </a:r>
            <a:r>
              <a:rPr lang="en" sz="2400">
                <a:solidFill>
                  <a:srgbClr val="4E443C"/>
                </a:solidFill>
                <a:latin typeface="Arial"/>
                <a:ea typeface="Arial"/>
                <a:cs typeface="Arial"/>
                <a:sym typeface="Arial"/>
              </a:rPr>
              <a:t>.</a:t>
            </a:r>
            <a:endParaRPr sz="2400">
              <a:latin typeface="Arial"/>
              <a:ea typeface="Arial"/>
              <a:cs typeface="Arial"/>
              <a:sym typeface="Arial"/>
            </a:endParaRPr>
          </a:p>
          <a:p>
            <a:pPr indent="-367030" lvl="0" marL="379095" marR="192405" rtl="0" algn="l">
              <a:lnSpc>
                <a:spcPct val="114999"/>
              </a:lnSpc>
              <a:spcBef>
                <a:spcPts val="0"/>
              </a:spcBef>
              <a:spcAft>
                <a:spcPts val="0"/>
              </a:spcAft>
              <a:buClr>
                <a:srgbClr val="595959"/>
              </a:buClr>
              <a:buSzPts val="1800"/>
              <a:buFont typeface="Arial"/>
              <a:buChar char="●"/>
            </a:pPr>
            <a:r>
              <a:rPr lang="en" sz="2400">
                <a:solidFill>
                  <a:srgbClr val="4E443C"/>
                </a:solidFill>
                <a:latin typeface="Arial"/>
                <a:ea typeface="Arial"/>
                <a:cs typeface="Arial"/>
                <a:sym typeface="Arial"/>
              </a:rPr>
              <a:t>If it has been modified and was added  to the staging area, it is </a:t>
            </a:r>
            <a:r>
              <a:rPr b="1" lang="en" sz="2400">
                <a:solidFill>
                  <a:srgbClr val="4E443C"/>
                </a:solidFill>
                <a:latin typeface="Arial"/>
                <a:ea typeface="Arial"/>
                <a:cs typeface="Arial"/>
                <a:sym typeface="Arial"/>
              </a:rPr>
              <a:t>staged</a:t>
            </a:r>
            <a:r>
              <a:rPr lang="en" sz="2400">
                <a:solidFill>
                  <a:srgbClr val="4E443C"/>
                </a:solidFill>
                <a:latin typeface="Arial"/>
                <a:ea typeface="Arial"/>
                <a:cs typeface="Arial"/>
                <a:sym typeface="Arial"/>
              </a:rPr>
              <a:t>.</a:t>
            </a:r>
            <a:endParaRPr sz="2400">
              <a:latin typeface="Arial"/>
              <a:ea typeface="Arial"/>
              <a:cs typeface="Arial"/>
              <a:sym typeface="Arial"/>
            </a:endParaRPr>
          </a:p>
          <a:p>
            <a:pPr indent="-367030" lvl="0" marL="379095" marR="5080" rtl="0" algn="l">
              <a:lnSpc>
                <a:spcPct val="114999"/>
              </a:lnSpc>
              <a:spcBef>
                <a:spcPts val="0"/>
              </a:spcBef>
              <a:spcAft>
                <a:spcPts val="0"/>
              </a:spcAft>
              <a:buClr>
                <a:srgbClr val="595959"/>
              </a:buClr>
              <a:buSzPts val="1800"/>
              <a:buFont typeface="Arial"/>
              <a:buChar char="●"/>
            </a:pPr>
            <a:r>
              <a:rPr lang="en" sz="2400">
                <a:solidFill>
                  <a:srgbClr val="4E443C"/>
                </a:solidFill>
                <a:latin typeface="Arial"/>
                <a:ea typeface="Arial"/>
                <a:cs typeface="Arial"/>
                <a:sym typeface="Arial"/>
              </a:rPr>
              <a:t>And if it was changed since it was  checked out but has not been staged, it  is </a:t>
            </a:r>
            <a:r>
              <a:rPr b="1" lang="en" sz="2400">
                <a:solidFill>
                  <a:srgbClr val="4E443C"/>
                </a:solidFill>
                <a:latin typeface="Arial"/>
                <a:ea typeface="Arial"/>
                <a:cs typeface="Arial"/>
                <a:sym typeface="Arial"/>
              </a:rPr>
              <a:t>modified</a:t>
            </a:r>
            <a:r>
              <a:rPr lang="en" sz="2400">
                <a:solidFill>
                  <a:srgbClr val="4E443C"/>
                </a:solidFill>
                <a:latin typeface="Arial"/>
                <a:ea typeface="Arial"/>
                <a:cs typeface="Arial"/>
                <a:sym typeface="Arial"/>
              </a:rPr>
              <a:t>.</a:t>
            </a:r>
            <a:endParaRPr sz="2400">
              <a:latin typeface="Arial"/>
              <a:ea typeface="Arial"/>
              <a:cs typeface="Arial"/>
              <a:sym typeface="Arial"/>
            </a:endParaRPr>
          </a:p>
        </p:txBody>
      </p:sp>
      <p:grpSp>
        <p:nvGrpSpPr>
          <p:cNvPr id="292" name="Google Shape;292;p45"/>
          <p:cNvGrpSpPr/>
          <p:nvPr/>
        </p:nvGrpSpPr>
        <p:grpSpPr>
          <a:xfrm>
            <a:off x="6063432" y="305447"/>
            <a:ext cx="2943922" cy="3679254"/>
            <a:chOff x="6063432" y="305447"/>
            <a:chExt cx="2943922" cy="3679254"/>
          </a:xfrm>
        </p:grpSpPr>
        <p:pic>
          <p:nvPicPr>
            <p:cNvPr id="293" name="Google Shape;293;p45"/>
            <p:cNvPicPr preferRelativeResize="0"/>
            <p:nvPr/>
          </p:nvPicPr>
          <p:blipFill rotWithShape="1">
            <a:blip r:embed="rId3">
              <a:alphaModFix/>
            </a:blip>
            <a:srcRect b="0" l="0" r="0" t="0"/>
            <a:stretch/>
          </p:blipFill>
          <p:spPr>
            <a:xfrm>
              <a:off x="6579684" y="305447"/>
              <a:ext cx="2095499" cy="876299"/>
            </a:xfrm>
            <a:prstGeom prst="rect">
              <a:avLst/>
            </a:prstGeom>
            <a:noFill/>
            <a:ln>
              <a:noFill/>
            </a:ln>
          </p:spPr>
        </p:pic>
        <p:pic>
          <p:nvPicPr>
            <p:cNvPr id="294" name="Google Shape;294;p45"/>
            <p:cNvPicPr preferRelativeResize="0"/>
            <p:nvPr/>
          </p:nvPicPr>
          <p:blipFill rotWithShape="1">
            <a:blip r:embed="rId4">
              <a:alphaModFix/>
            </a:blip>
            <a:srcRect b="0" l="0" r="0" t="0"/>
            <a:stretch/>
          </p:blipFill>
          <p:spPr>
            <a:xfrm>
              <a:off x="6063432" y="1040780"/>
              <a:ext cx="2943922" cy="2943921"/>
            </a:xfrm>
            <a:prstGeom prst="rect">
              <a:avLst/>
            </a:prstGeom>
            <a:noFill/>
            <a:ln>
              <a:noFill/>
            </a:ln>
          </p:spPr>
        </p:pic>
      </p:grpSp>
      <p:sp>
        <p:nvSpPr>
          <p:cNvPr id="295" name="Google Shape;295;p45"/>
          <p:cNvSpPr txBox="1"/>
          <p:nvPr>
            <p:ph type="title"/>
          </p:nvPr>
        </p:nvSpPr>
        <p:spPr>
          <a:xfrm>
            <a:off x="384725" y="638926"/>
            <a:ext cx="1959610" cy="4521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
                <a:solidFill>
                  <a:srgbClr val="4E443C"/>
                </a:solidFill>
              </a:rPr>
              <a:t>Git workflow</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